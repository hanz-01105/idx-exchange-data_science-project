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8288000" cy="10287000"/>
  <p:notesSz cx="6858000" cy="9144000"/>
  <p:embeddedFontLst>
    <p:embeddedFont>
      <p:font typeface="Raleway 1 Bold" charset="1" panose="020B0803030101060003"/>
      <p:regular r:id="rId45"/>
    </p:embeddedFont>
    <p:embeddedFont>
      <p:font typeface="Raleway 1" charset="1" panose="020B0503030101060003"/>
      <p:regular r:id="rId46"/>
    </p:embeddedFont>
    <p:embeddedFont>
      <p:font typeface="Balgin" charset="1" panose="00000300000000000000"/>
      <p:regular r:id="rId47"/>
    </p:embeddedFont>
    <p:embeddedFont>
      <p:font typeface="League Spartan" charset="1" panose="00000800000000000000"/>
      <p:regular r:id="rId48"/>
    </p:embeddedFont>
    <p:embeddedFont>
      <p:font typeface="Inter" charset="1" panose="020B0502030000000004"/>
      <p:regular r:id="rId49"/>
    </p:embeddedFont>
    <p:embeddedFont>
      <p:font typeface="Raleway 2 Bold" charset="1" panose="00000000000000000000"/>
      <p:regular r:id="rId50"/>
    </p:embeddedFont>
    <p:embeddedFont>
      <p:font typeface="Inter Bold" charset="1" panose="020B0802030000000004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6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69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72.png" Type="http://schemas.openxmlformats.org/officeDocument/2006/relationships/image"/><Relationship Id="rId5" Target="../media/image73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74.png" Type="http://schemas.openxmlformats.org/officeDocument/2006/relationships/image"/><Relationship Id="rId5" Target="../media/image75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Relationship Id="rId8" Target="../media/image78.png" Type="http://schemas.openxmlformats.org/officeDocument/2006/relationships/image"/><Relationship Id="rId9" Target="../media/image79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svg" Type="http://schemas.openxmlformats.org/officeDocument/2006/relationships/image"/><Relationship Id="rId12" Target="../media/image90.png" Type="http://schemas.openxmlformats.org/officeDocument/2006/relationships/image"/><Relationship Id="rId13" Target="../media/image91.svg" Type="http://schemas.openxmlformats.org/officeDocument/2006/relationships/image"/><Relationship Id="rId14" Target="../media/image72.png" Type="http://schemas.openxmlformats.org/officeDocument/2006/relationships/image"/><Relationship Id="rId15" Target="../media/image73.svg" Type="http://schemas.openxmlformats.org/officeDocument/2006/relationships/image"/><Relationship Id="rId16" Target="../media/image92.png" Type="http://schemas.openxmlformats.org/officeDocument/2006/relationships/image"/><Relationship Id="rId17" Target="../media/image93.svg" Type="http://schemas.openxmlformats.org/officeDocument/2006/relationships/image"/><Relationship Id="rId18" Target="../media/image94.png" Type="http://schemas.openxmlformats.org/officeDocument/2006/relationships/image"/><Relationship Id="rId19" Target="../media/image95.svg" Type="http://schemas.openxmlformats.org/officeDocument/2006/relationships/image"/><Relationship Id="rId2" Target="../media/image80.png" Type="http://schemas.openxmlformats.org/officeDocument/2006/relationships/image"/><Relationship Id="rId20" Target="../media/image96.png" Type="http://schemas.openxmlformats.org/officeDocument/2006/relationships/image"/><Relationship Id="rId21" Target="../media/image97.svg" Type="http://schemas.openxmlformats.org/officeDocument/2006/relationships/image"/><Relationship Id="rId22" Target="../media/image98.png" Type="http://schemas.openxmlformats.org/officeDocument/2006/relationships/image"/><Relationship Id="rId23" Target="../media/image99.svg" Type="http://schemas.openxmlformats.org/officeDocument/2006/relationships/image"/><Relationship Id="rId24" Target="../media/image100.png" Type="http://schemas.openxmlformats.org/officeDocument/2006/relationships/image"/><Relationship Id="rId25" Target="../media/image101.svg" Type="http://schemas.openxmlformats.org/officeDocument/2006/relationships/image"/><Relationship Id="rId26" Target="../media/image102.png" Type="http://schemas.openxmlformats.org/officeDocument/2006/relationships/image"/><Relationship Id="rId27" Target="../media/image103.svg" Type="http://schemas.openxmlformats.org/officeDocument/2006/relationships/image"/><Relationship Id="rId28" Target="../media/image104.png" Type="http://schemas.openxmlformats.org/officeDocument/2006/relationships/image"/><Relationship Id="rId29" Target="../media/image105.svg" Type="http://schemas.openxmlformats.org/officeDocument/2006/relationships/image"/><Relationship Id="rId3" Target="../media/image81.svg" Type="http://schemas.openxmlformats.org/officeDocument/2006/relationships/image"/><Relationship Id="rId30" Target="../media/image106.png" Type="http://schemas.openxmlformats.org/officeDocument/2006/relationships/image"/><Relationship Id="rId31" Target="../media/image107.svg" Type="http://schemas.openxmlformats.org/officeDocument/2006/relationships/image"/><Relationship Id="rId32" Target="../media/image108.png" Type="http://schemas.openxmlformats.org/officeDocument/2006/relationships/image"/><Relationship Id="rId33" Target="../media/image109.svg" Type="http://schemas.openxmlformats.org/officeDocument/2006/relationships/image"/><Relationship Id="rId34" Target="../media/image110.png" Type="http://schemas.openxmlformats.org/officeDocument/2006/relationships/image"/><Relationship Id="rId35" Target="../media/image111.svg" Type="http://schemas.openxmlformats.org/officeDocument/2006/relationships/image"/><Relationship Id="rId36" Target="../media/image112.png" Type="http://schemas.openxmlformats.org/officeDocument/2006/relationships/image"/><Relationship Id="rId37" Target="../media/image113.svg" Type="http://schemas.openxmlformats.org/officeDocument/2006/relationships/image"/><Relationship Id="rId38" Target="../media/image114.png" Type="http://schemas.openxmlformats.org/officeDocument/2006/relationships/image"/><Relationship Id="rId39" Target="../media/image115.svg" Type="http://schemas.openxmlformats.org/officeDocument/2006/relationships/image"/><Relationship Id="rId4" Target="../media/image82.png" Type="http://schemas.openxmlformats.org/officeDocument/2006/relationships/image"/><Relationship Id="rId40" Target="../media/image116.png" Type="http://schemas.openxmlformats.org/officeDocument/2006/relationships/image"/><Relationship Id="rId41" Target="../media/image117.svg" Type="http://schemas.openxmlformats.org/officeDocument/2006/relationships/image"/><Relationship Id="rId5" Target="../media/image83.svg" Type="http://schemas.openxmlformats.org/officeDocument/2006/relationships/image"/><Relationship Id="rId6" Target="../media/image84.png" Type="http://schemas.openxmlformats.org/officeDocument/2006/relationships/image"/><Relationship Id="rId7" Target="../media/image85.sv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44907">
            <a:off x="-3435041" y="3887602"/>
            <a:ext cx="10643036" cy="7082457"/>
          </a:xfrm>
          <a:custGeom>
            <a:avLst/>
            <a:gdLst/>
            <a:ahLst/>
            <a:cxnLst/>
            <a:rect r="r" b="b" t="t" l="l"/>
            <a:pathLst>
              <a:path h="7082457" w="10643036">
                <a:moveTo>
                  <a:pt x="0" y="0"/>
                </a:moveTo>
                <a:lnTo>
                  <a:pt x="10643036" y="0"/>
                </a:lnTo>
                <a:lnTo>
                  <a:pt x="10643036" y="7082456"/>
                </a:lnTo>
                <a:lnTo>
                  <a:pt x="0" y="7082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01968">
            <a:off x="-82664" y="4882133"/>
            <a:ext cx="6585289" cy="7005626"/>
          </a:xfrm>
          <a:custGeom>
            <a:avLst/>
            <a:gdLst/>
            <a:ahLst/>
            <a:cxnLst/>
            <a:rect r="r" b="b" t="t" l="l"/>
            <a:pathLst>
              <a:path h="7005626" w="6585289">
                <a:moveTo>
                  <a:pt x="0" y="0"/>
                </a:moveTo>
                <a:lnTo>
                  <a:pt x="6585289" y="0"/>
                </a:lnTo>
                <a:lnTo>
                  <a:pt x="6585289" y="7005627"/>
                </a:lnTo>
                <a:lnTo>
                  <a:pt x="0" y="7005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903944">
            <a:off x="9847281" y="-9236137"/>
            <a:ext cx="9639169" cy="18472274"/>
          </a:xfrm>
          <a:custGeom>
            <a:avLst/>
            <a:gdLst/>
            <a:ahLst/>
            <a:cxnLst/>
            <a:rect r="r" b="b" t="t" l="l"/>
            <a:pathLst>
              <a:path h="18472274" w="9639169">
                <a:moveTo>
                  <a:pt x="0" y="0"/>
                </a:moveTo>
                <a:lnTo>
                  <a:pt x="9639169" y="0"/>
                </a:lnTo>
                <a:lnTo>
                  <a:pt x="9639169" y="18472274"/>
                </a:lnTo>
                <a:lnTo>
                  <a:pt x="0" y="184722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209981" y="3138487"/>
            <a:ext cx="11868039" cy="4800563"/>
            <a:chOff x="0" y="0"/>
            <a:chExt cx="15824052" cy="640075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28600"/>
              <a:ext cx="15824052" cy="4411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00"/>
                </a:lnSpc>
              </a:pPr>
              <a:r>
                <a:rPr lang="en-US" sz="12500" b="true">
                  <a:solidFill>
                    <a:srgbClr val="916F5D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IDX Exchange- DS 35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617584"/>
              <a:ext cx="15824052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420461" y="1716107"/>
            <a:ext cx="5470754" cy="5888288"/>
          </a:xfrm>
          <a:custGeom>
            <a:avLst/>
            <a:gdLst/>
            <a:ahLst/>
            <a:cxnLst/>
            <a:rect r="r" b="b" t="t" l="l"/>
            <a:pathLst>
              <a:path h="5888288" w="5470754">
                <a:moveTo>
                  <a:pt x="0" y="0"/>
                </a:moveTo>
                <a:lnTo>
                  <a:pt x="5470754" y="0"/>
                </a:lnTo>
                <a:lnTo>
                  <a:pt x="5470754" y="5888287"/>
                </a:lnTo>
                <a:lnTo>
                  <a:pt x="0" y="58882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9518850">
            <a:off x="-1977245" y="-2554419"/>
            <a:ext cx="12524210" cy="14931994"/>
          </a:xfrm>
          <a:custGeom>
            <a:avLst/>
            <a:gdLst/>
            <a:ahLst/>
            <a:cxnLst/>
            <a:rect r="r" b="b" t="t" l="l"/>
            <a:pathLst>
              <a:path h="14931994" w="12524210">
                <a:moveTo>
                  <a:pt x="12524210" y="0"/>
                </a:moveTo>
                <a:lnTo>
                  <a:pt x="0" y="0"/>
                </a:lnTo>
                <a:lnTo>
                  <a:pt x="0" y="14931994"/>
                </a:lnTo>
                <a:lnTo>
                  <a:pt x="12524210" y="14931994"/>
                </a:lnTo>
                <a:lnTo>
                  <a:pt x="12524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47782">
            <a:off x="7149028" y="-6185383"/>
            <a:ext cx="15090263" cy="14376905"/>
          </a:xfrm>
          <a:custGeom>
            <a:avLst/>
            <a:gdLst/>
            <a:ahLst/>
            <a:cxnLst/>
            <a:rect r="r" b="b" t="t" l="l"/>
            <a:pathLst>
              <a:path h="14376905" w="15090263">
                <a:moveTo>
                  <a:pt x="0" y="0"/>
                </a:moveTo>
                <a:lnTo>
                  <a:pt x="15090263" y="0"/>
                </a:lnTo>
                <a:lnTo>
                  <a:pt x="15090263" y="14376905"/>
                </a:lnTo>
                <a:lnTo>
                  <a:pt x="0" y="143769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530096">
            <a:off x="-82383" y="6366732"/>
            <a:ext cx="5783796" cy="6225220"/>
          </a:xfrm>
          <a:custGeom>
            <a:avLst/>
            <a:gdLst/>
            <a:ahLst/>
            <a:cxnLst/>
            <a:rect r="r" b="b" t="t" l="l"/>
            <a:pathLst>
              <a:path h="6225220" w="5783796">
                <a:moveTo>
                  <a:pt x="0" y="0"/>
                </a:moveTo>
                <a:lnTo>
                  <a:pt x="5783796" y="0"/>
                </a:lnTo>
                <a:lnTo>
                  <a:pt x="5783796" y="6225220"/>
                </a:lnTo>
                <a:lnTo>
                  <a:pt x="0" y="6225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7260" y="7392108"/>
            <a:ext cx="7315200" cy="2460567"/>
          </a:xfrm>
          <a:custGeom>
            <a:avLst/>
            <a:gdLst/>
            <a:ahLst/>
            <a:cxnLst/>
            <a:rect r="r" b="b" t="t" l="l"/>
            <a:pathLst>
              <a:path h="2460567" w="7315200">
                <a:moveTo>
                  <a:pt x="0" y="0"/>
                </a:moveTo>
                <a:lnTo>
                  <a:pt x="7315200" y="0"/>
                </a:lnTo>
                <a:lnTo>
                  <a:pt x="7315200" y="2460567"/>
                </a:lnTo>
                <a:lnTo>
                  <a:pt x="0" y="24605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3922" y="4256389"/>
            <a:ext cx="646619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Contents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30701" y="2770489"/>
            <a:ext cx="9295452" cy="4772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3602" indent="-456801" lvl="1">
              <a:lnSpc>
                <a:spcPts val="6347"/>
              </a:lnSpc>
              <a:buAutoNum type="arabicPeriod" startAt="1"/>
            </a:pPr>
            <a:r>
              <a:rPr lang="en-US" sz="4231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Project Introduction</a:t>
            </a:r>
          </a:p>
          <a:p>
            <a:pPr algn="l" marL="913602" indent="-456801" lvl="1">
              <a:lnSpc>
                <a:spcPts val="6347"/>
              </a:lnSpc>
              <a:buAutoNum type="arabicPeriod" startAt="1"/>
            </a:pPr>
            <a:r>
              <a:rPr lang="en-US" sz="4231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Data Overview</a:t>
            </a:r>
          </a:p>
          <a:p>
            <a:pPr algn="l" marL="913602" indent="-456801" lvl="1">
              <a:lnSpc>
                <a:spcPts val="6347"/>
              </a:lnSpc>
              <a:buAutoNum type="arabicPeriod" startAt="1"/>
            </a:pPr>
            <a:r>
              <a:rPr lang="en-US" sz="4231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Our Mod</a:t>
            </a:r>
            <a:r>
              <a:rPr lang="en-US" sz="4231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els</a:t>
            </a:r>
          </a:p>
          <a:p>
            <a:pPr algn="l" marL="913602" indent="-456801" lvl="1">
              <a:lnSpc>
                <a:spcPts val="6347"/>
              </a:lnSpc>
              <a:buAutoNum type="arabicPeriod" startAt="1"/>
            </a:pPr>
            <a:r>
              <a:rPr lang="en-US" sz="4231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Models Comparison</a:t>
            </a:r>
          </a:p>
          <a:p>
            <a:pPr algn="l" marL="913602" indent="-456801" lvl="1">
              <a:lnSpc>
                <a:spcPts val="6347"/>
              </a:lnSpc>
              <a:buAutoNum type="arabicPeriod" startAt="1"/>
            </a:pPr>
            <a:r>
              <a:rPr lang="en-US" sz="4231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Future Steps / What We’ve Learned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9518850">
            <a:off x="-1977245" y="-2554419"/>
            <a:ext cx="12524210" cy="14931994"/>
          </a:xfrm>
          <a:custGeom>
            <a:avLst/>
            <a:gdLst/>
            <a:ahLst/>
            <a:cxnLst/>
            <a:rect r="r" b="b" t="t" l="l"/>
            <a:pathLst>
              <a:path h="14931994" w="12524210">
                <a:moveTo>
                  <a:pt x="12524210" y="0"/>
                </a:moveTo>
                <a:lnTo>
                  <a:pt x="0" y="0"/>
                </a:lnTo>
                <a:lnTo>
                  <a:pt x="0" y="14931994"/>
                </a:lnTo>
                <a:lnTo>
                  <a:pt x="12524210" y="14931994"/>
                </a:lnTo>
                <a:lnTo>
                  <a:pt x="12524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47782">
            <a:off x="7149028" y="-6185383"/>
            <a:ext cx="15090263" cy="14376905"/>
          </a:xfrm>
          <a:custGeom>
            <a:avLst/>
            <a:gdLst/>
            <a:ahLst/>
            <a:cxnLst/>
            <a:rect r="r" b="b" t="t" l="l"/>
            <a:pathLst>
              <a:path h="14376905" w="15090263">
                <a:moveTo>
                  <a:pt x="0" y="0"/>
                </a:moveTo>
                <a:lnTo>
                  <a:pt x="15090263" y="0"/>
                </a:lnTo>
                <a:lnTo>
                  <a:pt x="15090263" y="14376905"/>
                </a:lnTo>
                <a:lnTo>
                  <a:pt x="0" y="143769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530096">
            <a:off x="-82383" y="6366732"/>
            <a:ext cx="5783796" cy="6225220"/>
          </a:xfrm>
          <a:custGeom>
            <a:avLst/>
            <a:gdLst/>
            <a:ahLst/>
            <a:cxnLst/>
            <a:rect r="r" b="b" t="t" l="l"/>
            <a:pathLst>
              <a:path h="6225220" w="5783796">
                <a:moveTo>
                  <a:pt x="0" y="0"/>
                </a:moveTo>
                <a:lnTo>
                  <a:pt x="5783796" y="0"/>
                </a:lnTo>
                <a:lnTo>
                  <a:pt x="5783796" y="6225220"/>
                </a:lnTo>
                <a:lnTo>
                  <a:pt x="0" y="6225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3799" y="8209330"/>
            <a:ext cx="5693554" cy="1915105"/>
          </a:xfrm>
          <a:custGeom>
            <a:avLst/>
            <a:gdLst/>
            <a:ahLst/>
            <a:cxnLst/>
            <a:rect r="r" b="b" t="t" l="l"/>
            <a:pathLst>
              <a:path h="1915105" w="5693554">
                <a:moveTo>
                  <a:pt x="0" y="0"/>
                </a:moveTo>
                <a:lnTo>
                  <a:pt x="5693554" y="0"/>
                </a:lnTo>
                <a:lnTo>
                  <a:pt x="5693554" y="1915105"/>
                </a:lnTo>
                <a:lnTo>
                  <a:pt x="0" y="19151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7260" y="450620"/>
            <a:ext cx="646619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050" y="2858919"/>
            <a:ext cx="13071926" cy="80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3"/>
              </a:lnSpc>
              <a:spcBef>
                <a:spcPct val="0"/>
              </a:spcBef>
            </a:pPr>
            <a:r>
              <a:rPr lang="en-US" b="true" sz="4422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Focus: </a:t>
            </a:r>
            <a:r>
              <a:rPr lang="en-US" sz="4422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Single Family Residences &amp; Residential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3928677"/>
            <a:ext cx="14463042" cy="80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3"/>
              </a:lnSpc>
              <a:spcBef>
                <a:spcPct val="0"/>
              </a:spcBef>
            </a:pPr>
            <a:r>
              <a:rPr lang="en-US" b="true" sz="4422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Data: </a:t>
            </a:r>
            <a:r>
              <a:rPr lang="en-US" sz="4422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Historical transaction data from CRMLs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34019" y="6043217"/>
            <a:ext cx="6016494" cy="312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5048" indent="-447524" lvl="1">
              <a:lnSpc>
                <a:spcPts val="6218"/>
              </a:lnSpc>
              <a:buAutoNum type="arabicPeriod" startAt="1"/>
            </a:pPr>
            <a:r>
              <a:rPr lang="en-US" sz="4145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LightGBM</a:t>
            </a:r>
          </a:p>
          <a:p>
            <a:pPr algn="l" marL="895048" indent="-447524" lvl="1">
              <a:lnSpc>
                <a:spcPts val="6218"/>
              </a:lnSpc>
              <a:buAutoNum type="arabicPeriod" startAt="1"/>
            </a:pPr>
            <a:r>
              <a:rPr lang="en-US" sz="4145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XGBoost</a:t>
            </a:r>
          </a:p>
          <a:p>
            <a:pPr algn="l" marL="895048" indent="-447524" lvl="1">
              <a:lnSpc>
                <a:spcPts val="6218"/>
              </a:lnSpc>
              <a:buAutoNum type="arabicPeriod" startAt="1"/>
            </a:pPr>
            <a:r>
              <a:rPr lang="en-US" sz="4145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MLP Regression</a:t>
            </a:r>
          </a:p>
          <a:p>
            <a:pPr algn="l" marL="895048" indent="-447524" lvl="1">
              <a:lnSpc>
                <a:spcPts val="6218"/>
              </a:lnSpc>
              <a:buAutoNum type="arabicPeriod" startAt="1"/>
            </a:pPr>
            <a:r>
              <a:rPr lang="en-US" sz="4145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Catboost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1116" y="4994766"/>
            <a:ext cx="3087960" cy="77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7"/>
              </a:lnSpc>
              <a:spcBef>
                <a:spcPct val="0"/>
              </a:spcBef>
            </a:pPr>
            <a:r>
              <a:rPr lang="en-US" b="true" sz="4231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Our Models: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0794" y="1770112"/>
            <a:ext cx="14463042" cy="80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3"/>
              </a:lnSpc>
              <a:spcBef>
                <a:spcPct val="0"/>
              </a:spcBef>
            </a:pPr>
            <a:r>
              <a:rPr lang="en-US" b="true" sz="4422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Goal: </a:t>
            </a:r>
            <a:r>
              <a:rPr lang="en-US" sz="4422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Predicting California Property Close Prices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33443" y="279686"/>
            <a:ext cx="11087769" cy="9727629"/>
          </a:xfrm>
          <a:custGeom>
            <a:avLst/>
            <a:gdLst/>
            <a:ahLst/>
            <a:cxnLst/>
            <a:rect r="r" b="b" t="t" l="l"/>
            <a:pathLst>
              <a:path h="9727629" w="11087769">
                <a:moveTo>
                  <a:pt x="0" y="0"/>
                </a:moveTo>
                <a:lnTo>
                  <a:pt x="11087770" y="0"/>
                </a:lnTo>
                <a:lnTo>
                  <a:pt x="11087770" y="9727628"/>
                </a:lnTo>
                <a:lnTo>
                  <a:pt x="0" y="9727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201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5183918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Correlation table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47446" y="2710290"/>
            <a:ext cx="11071636" cy="5509364"/>
          </a:xfrm>
          <a:custGeom>
            <a:avLst/>
            <a:gdLst/>
            <a:ahLst/>
            <a:cxnLst/>
            <a:rect r="r" b="b" t="t" l="l"/>
            <a:pathLst>
              <a:path h="5509364" w="11071636">
                <a:moveTo>
                  <a:pt x="0" y="0"/>
                </a:moveTo>
                <a:lnTo>
                  <a:pt x="11071636" y="0"/>
                </a:lnTo>
                <a:lnTo>
                  <a:pt x="11071636" y="5509363"/>
                </a:lnTo>
                <a:lnTo>
                  <a:pt x="0" y="55093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73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1022030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Close price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85220" y="3602864"/>
            <a:ext cx="11301259" cy="5438731"/>
          </a:xfrm>
          <a:custGeom>
            <a:avLst/>
            <a:gdLst/>
            <a:ahLst/>
            <a:cxnLst/>
            <a:rect r="r" b="b" t="t" l="l"/>
            <a:pathLst>
              <a:path h="5438731" w="11301259">
                <a:moveTo>
                  <a:pt x="0" y="0"/>
                </a:moveTo>
                <a:lnTo>
                  <a:pt x="11301258" y="0"/>
                </a:lnTo>
                <a:lnTo>
                  <a:pt x="11301258" y="5438730"/>
                </a:lnTo>
                <a:lnTo>
                  <a:pt x="0" y="54387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1022030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Living Area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93371" y="3496863"/>
            <a:ext cx="11301259" cy="5240959"/>
          </a:xfrm>
          <a:custGeom>
            <a:avLst/>
            <a:gdLst/>
            <a:ahLst/>
            <a:cxnLst/>
            <a:rect r="r" b="b" t="t" l="l"/>
            <a:pathLst>
              <a:path h="5240959" w="11301259">
                <a:moveTo>
                  <a:pt x="0" y="0"/>
                </a:moveTo>
                <a:lnTo>
                  <a:pt x="11301258" y="0"/>
                </a:lnTo>
                <a:lnTo>
                  <a:pt x="11301258" y="5240959"/>
                </a:lnTo>
                <a:lnTo>
                  <a:pt x="0" y="52409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1074078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Lot Size (ft</a:t>
            </a: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2</a:t>
            </a: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 )Distribtuion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2690" y="2359383"/>
            <a:ext cx="14399316" cy="7055665"/>
          </a:xfrm>
          <a:custGeom>
            <a:avLst/>
            <a:gdLst/>
            <a:ahLst/>
            <a:cxnLst/>
            <a:rect r="r" b="b" t="t" l="l"/>
            <a:pathLst>
              <a:path h="7055665" w="14399316">
                <a:moveTo>
                  <a:pt x="0" y="0"/>
                </a:moveTo>
                <a:lnTo>
                  <a:pt x="14399316" y="0"/>
                </a:lnTo>
                <a:lnTo>
                  <a:pt x="14399316" y="7055665"/>
                </a:lnTo>
                <a:lnTo>
                  <a:pt x="0" y="7055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1199605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Close Price by YearBuild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86606" y="2352988"/>
            <a:ext cx="10650079" cy="7144218"/>
          </a:xfrm>
          <a:custGeom>
            <a:avLst/>
            <a:gdLst/>
            <a:ahLst/>
            <a:cxnLst/>
            <a:rect r="r" b="b" t="t" l="l"/>
            <a:pathLst>
              <a:path h="7144218" w="10650079">
                <a:moveTo>
                  <a:pt x="0" y="0"/>
                </a:moveTo>
                <a:lnTo>
                  <a:pt x="10650078" y="0"/>
                </a:lnTo>
                <a:lnTo>
                  <a:pt x="10650078" y="7144218"/>
                </a:lnTo>
                <a:lnTo>
                  <a:pt x="0" y="7144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92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1403204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Close Price by Property type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19282" y="2266475"/>
            <a:ext cx="11185586" cy="7368505"/>
          </a:xfrm>
          <a:custGeom>
            <a:avLst/>
            <a:gdLst/>
            <a:ahLst/>
            <a:cxnLst/>
            <a:rect r="r" b="b" t="t" l="l"/>
            <a:pathLst>
              <a:path h="7368505" w="11185586">
                <a:moveTo>
                  <a:pt x="0" y="0"/>
                </a:moveTo>
                <a:lnTo>
                  <a:pt x="11185586" y="0"/>
                </a:lnTo>
                <a:lnTo>
                  <a:pt x="11185586" y="7368505"/>
                </a:lnTo>
                <a:lnTo>
                  <a:pt x="0" y="73685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1514330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Close Price by Attached Garage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56993" y="2319204"/>
            <a:ext cx="10591647" cy="7069924"/>
          </a:xfrm>
          <a:custGeom>
            <a:avLst/>
            <a:gdLst/>
            <a:ahLst/>
            <a:cxnLst/>
            <a:rect r="r" b="b" t="t" l="l"/>
            <a:pathLst>
              <a:path h="7069924" w="10591647">
                <a:moveTo>
                  <a:pt x="0" y="0"/>
                </a:moveTo>
                <a:lnTo>
                  <a:pt x="10591646" y="0"/>
                </a:lnTo>
                <a:lnTo>
                  <a:pt x="10591646" y="7069924"/>
                </a:lnTo>
                <a:lnTo>
                  <a:pt x="0" y="70699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1309824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Close Price by Fireplace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35028" y="2314057"/>
            <a:ext cx="10718306" cy="7060684"/>
          </a:xfrm>
          <a:custGeom>
            <a:avLst/>
            <a:gdLst/>
            <a:ahLst/>
            <a:cxnLst/>
            <a:rect r="r" b="b" t="t" l="l"/>
            <a:pathLst>
              <a:path h="7060684" w="10718306">
                <a:moveTo>
                  <a:pt x="0" y="0"/>
                </a:moveTo>
                <a:lnTo>
                  <a:pt x="10718306" y="0"/>
                </a:lnTo>
                <a:lnTo>
                  <a:pt x="10718306" y="7060684"/>
                </a:lnTo>
                <a:lnTo>
                  <a:pt x="0" y="7060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1438412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Close Price by Private Pool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3193502"/>
          <a:ext cx="16230600" cy="5481844"/>
        </p:xfrm>
        <a:graphic>
          <a:graphicData uri="http://schemas.openxmlformats.org/drawingml/2006/table">
            <a:tbl>
              <a:tblPr/>
              <a:tblGrid>
                <a:gridCol w="5303405"/>
                <a:gridCol w="5303405"/>
                <a:gridCol w="5623791"/>
              </a:tblGrid>
              <a:tr h="1048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Overview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How It Works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Advantages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</a:tr>
              <a:tr h="4433714"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Light Gradient Boosting Machine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Decision Tree–based Algorithms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High-performance Gradient Boosting Framework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Developed by Microsoft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Boosting rounds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Small decision trees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Correcting errors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Learning patterns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Speed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Efficiency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Scalability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Large datasets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009650"/>
            <a:ext cx="1022030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What is LightGBM?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88326">
            <a:off x="-162912" y="222186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2"/>
                </a:lnTo>
                <a:lnTo>
                  <a:pt x="0" y="14443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75284" y="3215931"/>
            <a:ext cx="11189031" cy="7303385"/>
          </a:xfrm>
          <a:custGeom>
            <a:avLst/>
            <a:gdLst/>
            <a:ahLst/>
            <a:cxnLst/>
            <a:rect r="r" b="b" t="t" l="l"/>
            <a:pathLst>
              <a:path h="7303385" w="11189031">
                <a:moveTo>
                  <a:pt x="0" y="0"/>
                </a:moveTo>
                <a:lnTo>
                  <a:pt x="11189030" y="0"/>
                </a:lnTo>
                <a:lnTo>
                  <a:pt x="11189030" y="7303385"/>
                </a:lnTo>
                <a:lnTo>
                  <a:pt x="0" y="73033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912771"/>
          <a:ext cx="16882348" cy="5279091"/>
        </p:xfrm>
        <a:graphic>
          <a:graphicData uri="http://schemas.openxmlformats.org/drawingml/2006/table">
            <a:tbl>
              <a:tblPr/>
              <a:tblGrid>
                <a:gridCol w="8115116"/>
                <a:gridCol w="8767232"/>
              </a:tblGrid>
              <a:tr h="13410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KNN Neighborhood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BA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Domain-Specific Feature Engineering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BA9C"/>
                    </a:solidFill>
                  </a:tcPr>
                </a:tc>
              </a:tr>
              <a:tr h="14261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Added location intelligence beyond city/ZIP ⟶ Used latitude/longitude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Created real-estate ratios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  <a:tr h="12559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Generated neighborhood price statistics (mean, median, quartiles)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Captured real estate behavior (size, age, discounting, tax burden)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  <a:tr h="1255921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531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IMPACT: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Boosted R² and reduced MAPE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160777"/>
            <a:ext cx="162306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Feature Engineering &amp; Spatial Intelligence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62484">
            <a:off x="12250590" y="633304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8" y="0"/>
                </a:lnTo>
                <a:lnTo>
                  <a:pt x="7536668" y="14443092"/>
                </a:lnTo>
                <a:lnTo>
                  <a:pt x="0" y="14443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11309">
            <a:off x="11414946" y="-2485820"/>
            <a:ext cx="8410362" cy="8613965"/>
          </a:xfrm>
          <a:custGeom>
            <a:avLst/>
            <a:gdLst/>
            <a:ahLst/>
            <a:cxnLst/>
            <a:rect r="r" b="b" t="t" l="l"/>
            <a:pathLst>
              <a:path h="8613965" w="8410362">
                <a:moveTo>
                  <a:pt x="0" y="0"/>
                </a:moveTo>
                <a:lnTo>
                  <a:pt x="8410362" y="0"/>
                </a:lnTo>
                <a:lnTo>
                  <a:pt x="8410362" y="8613966"/>
                </a:lnTo>
                <a:lnTo>
                  <a:pt x="0" y="8613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6833" y="1019175"/>
            <a:ext cx="1426115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Hyperparameter Tuning with Optuna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72692">
            <a:off x="7764929" y="6953580"/>
            <a:ext cx="5145250" cy="5230846"/>
          </a:xfrm>
          <a:custGeom>
            <a:avLst/>
            <a:gdLst/>
            <a:ahLst/>
            <a:cxnLst/>
            <a:rect r="r" b="b" t="t" l="l"/>
            <a:pathLst>
              <a:path h="5230846" w="5145250">
                <a:moveTo>
                  <a:pt x="0" y="0"/>
                </a:moveTo>
                <a:lnTo>
                  <a:pt x="5145250" y="0"/>
                </a:lnTo>
                <a:lnTo>
                  <a:pt x="5145250" y="5230846"/>
                </a:lnTo>
                <a:lnTo>
                  <a:pt x="0" y="5230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3153" y="3158740"/>
            <a:ext cx="13903843" cy="446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Performed an automated search to minimize validation MAPE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Used early stopping to prevent overfitting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Fined-tune key parameters:</a:t>
            </a:r>
          </a:p>
          <a:p>
            <a:pPr algn="l" marL="1449868" indent="-483289" lvl="2">
              <a:lnSpc>
                <a:spcPts val="5036"/>
              </a:lnSpc>
              <a:buFont typeface="Arial"/>
              <a:buChar char="⚬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num_leaves, max_depth, min_child_samples, min_gain_to_split</a:t>
            </a:r>
          </a:p>
          <a:p>
            <a:pPr algn="l" marL="1449868" indent="-483289" lvl="2">
              <a:lnSpc>
                <a:spcPts val="5036"/>
              </a:lnSpc>
              <a:buFont typeface="Arial"/>
              <a:buChar char="⚬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learning_rate, feature_fraction, bagging_fraction</a:t>
            </a:r>
          </a:p>
          <a:p>
            <a:pPr algn="l" marL="1449868" indent="-483289" lvl="2">
              <a:lnSpc>
                <a:spcPts val="5036"/>
              </a:lnSpc>
              <a:buFont typeface="Arial"/>
              <a:buChar char="⚬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reg_alpha, reg_lambda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→ Achieved the lowest MAPE.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62484">
            <a:off x="12250590" y="633304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8" y="0"/>
                </a:lnTo>
                <a:lnTo>
                  <a:pt x="7536668" y="14443092"/>
                </a:lnTo>
                <a:lnTo>
                  <a:pt x="0" y="14443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11309">
            <a:off x="11414946" y="-2485820"/>
            <a:ext cx="8410362" cy="8613965"/>
          </a:xfrm>
          <a:custGeom>
            <a:avLst/>
            <a:gdLst/>
            <a:ahLst/>
            <a:cxnLst/>
            <a:rect r="r" b="b" t="t" l="l"/>
            <a:pathLst>
              <a:path h="8613965" w="8410362">
                <a:moveTo>
                  <a:pt x="0" y="0"/>
                </a:moveTo>
                <a:lnTo>
                  <a:pt x="8410362" y="0"/>
                </a:lnTo>
                <a:lnTo>
                  <a:pt x="8410362" y="8613966"/>
                </a:lnTo>
                <a:lnTo>
                  <a:pt x="0" y="8613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2692">
            <a:off x="7764929" y="6953580"/>
            <a:ext cx="5145250" cy="5230846"/>
          </a:xfrm>
          <a:custGeom>
            <a:avLst/>
            <a:gdLst/>
            <a:ahLst/>
            <a:cxnLst/>
            <a:rect r="r" b="b" t="t" l="l"/>
            <a:pathLst>
              <a:path h="5230846" w="5145250">
                <a:moveTo>
                  <a:pt x="0" y="0"/>
                </a:moveTo>
                <a:lnTo>
                  <a:pt x="5145250" y="0"/>
                </a:lnTo>
                <a:lnTo>
                  <a:pt x="5145250" y="5230846"/>
                </a:lnTo>
                <a:lnTo>
                  <a:pt x="0" y="5230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82647" y="2099654"/>
            <a:ext cx="7412715" cy="6087692"/>
          </a:xfrm>
          <a:custGeom>
            <a:avLst/>
            <a:gdLst/>
            <a:ahLst/>
            <a:cxnLst/>
            <a:rect r="r" b="b" t="t" l="l"/>
            <a:pathLst>
              <a:path h="6087692" w="7412715">
                <a:moveTo>
                  <a:pt x="0" y="0"/>
                </a:moveTo>
                <a:lnTo>
                  <a:pt x="7412714" y="0"/>
                </a:lnTo>
                <a:lnTo>
                  <a:pt x="7412714" y="6087692"/>
                </a:lnTo>
                <a:lnTo>
                  <a:pt x="0" y="60876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6833" y="716975"/>
            <a:ext cx="1426115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Results : Key Metrics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1498" y="2534574"/>
            <a:ext cx="9145760" cy="536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3613" indent="-381807" lvl="1">
              <a:lnSpc>
                <a:spcPts val="5305"/>
              </a:lnSpc>
              <a:buFont typeface="Arial"/>
              <a:buChar char="•"/>
            </a:pPr>
            <a:r>
              <a:rPr lang="en-US" sz="3536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R²</a:t>
            </a:r>
            <a:r>
              <a:rPr lang="en-US" sz="3536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= 0.86 ⟶ strong signal capture in noisy real-estate data</a:t>
            </a:r>
          </a:p>
          <a:p>
            <a:pPr algn="l" marL="763613" indent="-381807" lvl="1">
              <a:lnSpc>
                <a:spcPts val="5305"/>
              </a:lnSpc>
              <a:buFont typeface="Arial"/>
              <a:buChar char="•"/>
            </a:pPr>
            <a:r>
              <a:rPr lang="en-US" sz="3536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MAPE ≈ 12% ⟶ reliable valuation accuracy.</a:t>
            </a:r>
          </a:p>
          <a:p>
            <a:pPr algn="l" marL="763613" indent="-381807" lvl="1">
              <a:lnSpc>
                <a:spcPts val="5305"/>
              </a:lnSpc>
              <a:buFont typeface="Arial"/>
              <a:buChar char="•"/>
            </a:pPr>
            <a:r>
              <a:rPr lang="en-US" sz="3536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Half of all homes within ~8% error (MdAPE) → model is consistently accurate across most properties, not just on average.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3193502"/>
          <a:ext cx="16230600" cy="5481844"/>
        </p:xfrm>
        <a:graphic>
          <a:graphicData uri="http://schemas.openxmlformats.org/drawingml/2006/table">
            <a:tbl>
              <a:tblPr/>
              <a:tblGrid>
                <a:gridCol w="5303405"/>
                <a:gridCol w="5303405"/>
                <a:gridCol w="5623791"/>
              </a:tblGrid>
              <a:tr h="1048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Overview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How It Works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Advantages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</a:tr>
              <a:tr h="4433714"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Tree-based Gradient Boosting Model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High-performance XGBoost Regressor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Designed for structured/tabular prediction tasks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Widely used in industry and Kaggle competitions</a:t>
                      </a:r>
                    </a:p>
                    <a:p>
                      <a:pPr algn="l">
                        <a:lnSpc>
                          <a:spcPts val="3000"/>
                        </a:lnSpc>
                      </a:pPr>
                    </a:p>
                    <a:p>
                      <a:pPr algn="l">
                        <a:lnSpc>
                          <a:spcPts val="30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Ense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mble of decision trees built sequentially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Each tree c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orrects residual errors from previous trees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Us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es gradient boosting to optimize loss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L1/L2 regularization to reduce overfitting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Handles mixed features and missing values efficiently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Strong performance on non-linear, high-dimensional tabular data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Captures complex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feature interactions naturally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Robust with engineered features (geo, text, categorical, etc.)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Built-in regularization improves generalization</a:t>
                      </a:r>
                    </a:p>
                    <a:p>
                      <a:pPr algn="l" marL="431801" indent="-215900" lvl="1">
                        <a:lnSpc>
                          <a:spcPts val="30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Provides fe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ature importance for interpretability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009650"/>
            <a:ext cx="1022030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Why chose XGBoost?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9817969">
            <a:off x="-11518484" y="70047"/>
            <a:ext cx="21898069" cy="14572170"/>
          </a:xfrm>
          <a:custGeom>
            <a:avLst/>
            <a:gdLst/>
            <a:ahLst/>
            <a:cxnLst/>
            <a:rect r="r" b="b" t="t" l="l"/>
            <a:pathLst>
              <a:path h="14572170" w="21898069">
                <a:moveTo>
                  <a:pt x="21898070" y="0"/>
                </a:moveTo>
                <a:lnTo>
                  <a:pt x="0" y="0"/>
                </a:lnTo>
                <a:lnTo>
                  <a:pt x="0" y="14572169"/>
                </a:lnTo>
                <a:lnTo>
                  <a:pt x="21898070" y="14572169"/>
                </a:lnTo>
                <a:lnTo>
                  <a:pt x="218980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144000" y="1471027"/>
          <a:ext cx="7958431" cy="9124950"/>
        </p:xfrm>
        <a:graphic>
          <a:graphicData uri="http://schemas.openxmlformats.org/drawingml/2006/table">
            <a:tbl>
              <a:tblPr/>
              <a:tblGrid>
                <a:gridCol w="2222386"/>
                <a:gridCol w="5736045"/>
              </a:tblGrid>
              <a:tr h="31083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Removed Extreme Outliers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BA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7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Identified unrealistic prices (multi-million anomalies).</a:t>
                      </a:r>
                      <a:endParaRPr lang="en-US" sz="1100"/>
                    </a:p>
                    <a:p>
                      <a:pPr algn="l" marL="388620" indent="-194310" lvl="1">
                        <a:lnSpc>
                          <a:spcPts val="270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Such extremes distort model learning and increase variance.</a:t>
                      </a:r>
                    </a:p>
                    <a:p>
                      <a:pPr algn="l" marL="388620" indent="-194310" lvl="1">
                        <a:lnSpc>
                          <a:spcPts val="270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App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lied percentile rules to trim top &amp; bottom extreme values.</a:t>
                      </a:r>
                    </a:p>
                    <a:p>
                      <a:pPr algn="l" marL="388620" indent="-194310" lvl="1">
                        <a:lnSpc>
                          <a:spcPts val="270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Result: more stable, more generalizable XGBoost performance.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3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KNNImputer for Numerical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BA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7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Real estate data exhibits local similarity (area, bedrooms, location).</a:t>
                      </a:r>
                      <a:endParaRPr lang="en-US" sz="1100"/>
                    </a:p>
                    <a:p>
                      <a:pPr algn="l" marL="388620" indent="-194310" lvl="1">
                        <a:lnSpc>
                          <a:spcPts val="270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KNNImput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er uses nearest neighbors to fill missing numeric values.</a:t>
                      </a:r>
                    </a:p>
                    <a:p>
                      <a:pPr algn="l" marL="388620" indent="-194310" lvl="1">
                        <a:lnSpc>
                          <a:spcPts val="270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Preserves natural variability vs. flattening via mean/median imputation.</a:t>
                      </a:r>
                    </a:p>
                    <a:p>
                      <a:pPr algn="l" marL="388620" indent="-194310" lvl="1">
                        <a:lnSpc>
                          <a:spcPts val="270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More realistic feature distribution → better model quality.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81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 “Missing” Category for Categorical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BA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Categorical missingness can be informative on its own.</a:t>
                      </a:r>
                      <a:endParaRPr lang="en-US" sz="1100"/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Added explicit “Missing” category instead of mode imputation or dropping rows.</a:t>
                      </a:r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Enables model to learn patterns associated with missing values.</a:t>
                      </a:r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Well-aligned with XGBoost’s strong categorical handling.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1019175"/>
            <a:ext cx="6382177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6188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Data Wrangling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844907">
            <a:off x="-3629872" y="5239731"/>
            <a:ext cx="10643036" cy="7082457"/>
          </a:xfrm>
          <a:custGeom>
            <a:avLst/>
            <a:gdLst/>
            <a:ahLst/>
            <a:cxnLst/>
            <a:rect r="r" b="b" t="t" l="l"/>
            <a:pathLst>
              <a:path h="7082457" w="10643036">
                <a:moveTo>
                  <a:pt x="0" y="0"/>
                </a:moveTo>
                <a:lnTo>
                  <a:pt x="10643036" y="0"/>
                </a:lnTo>
                <a:lnTo>
                  <a:pt x="10643036" y="7082457"/>
                </a:lnTo>
                <a:lnTo>
                  <a:pt x="0" y="70824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146096">
            <a:off x="2221148" y="6873404"/>
            <a:ext cx="4726431" cy="4769793"/>
          </a:xfrm>
          <a:custGeom>
            <a:avLst/>
            <a:gdLst/>
            <a:ahLst/>
            <a:cxnLst/>
            <a:rect r="r" b="b" t="t" l="l"/>
            <a:pathLst>
              <a:path h="4769793" w="4726431">
                <a:moveTo>
                  <a:pt x="0" y="0"/>
                </a:moveTo>
                <a:lnTo>
                  <a:pt x="4726431" y="0"/>
                </a:lnTo>
                <a:lnTo>
                  <a:pt x="4726431" y="4769792"/>
                </a:lnTo>
                <a:lnTo>
                  <a:pt x="0" y="47697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77277">
            <a:off x="8875698" y="-386561"/>
            <a:ext cx="12524210" cy="14931994"/>
          </a:xfrm>
          <a:custGeom>
            <a:avLst/>
            <a:gdLst/>
            <a:ahLst/>
            <a:cxnLst/>
            <a:rect r="r" b="b" t="t" l="l"/>
            <a:pathLst>
              <a:path h="14931994" w="12524210">
                <a:moveTo>
                  <a:pt x="12524210" y="0"/>
                </a:moveTo>
                <a:lnTo>
                  <a:pt x="0" y="0"/>
                </a:lnTo>
                <a:lnTo>
                  <a:pt x="0" y="14931994"/>
                </a:lnTo>
                <a:lnTo>
                  <a:pt x="12524210" y="14931994"/>
                </a:lnTo>
                <a:lnTo>
                  <a:pt x="12524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903944">
            <a:off x="-88869" y="475721"/>
            <a:ext cx="9639169" cy="18472274"/>
          </a:xfrm>
          <a:custGeom>
            <a:avLst/>
            <a:gdLst/>
            <a:ahLst/>
            <a:cxnLst/>
            <a:rect r="r" b="b" t="t" l="l"/>
            <a:pathLst>
              <a:path h="18472274" w="9639169">
                <a:moveTo>
                  <a:pt x="0" y="0"/>
                </a:moveTo>
                <a:lnTo>
                  <a:pt x="9639169" y="0"/>
                </a:lnTo>
                <a:lnTo>
                  <a:pt x="9639169" y="18472274"/>
                </a:lnTo>
                <a:lnTo>
                  <a:pt x="0" y="1847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2272" y="3253641"/>
            <a:ext cx="5743457" cy="5733014"/>
          </a:xfrm>
          <a:custGeom>
            <a:avLst/>
            <a:gdLst/>
            <a:ahLst/>
            <a:cxnLst/>
            <a:rect r="r" b="b" t="t" l="l"/>
            <a:pathLst>
              <a:path h="5733014" w="5743457">
                <a:moveTo>
                  <a:pt x="0" y="0"/>
                </a:moveTo>
                <a:lnTo>
                  <a:pt x="5743456" y="0"/>
                </a:lnTo>
                <a:lnTo>
                  <a:pt x="5743456" y="5733014"/>
                </a:lnTo>
                <a:lnTo>
                  <a:pt x="0" y="57330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6919" y="3785390"/>
            <a:ext cx="6568373" cy="4669516"/>
          </a:xfrm>
          <a:custGeom>
            <a:avLst/>
            <a:gdLst/>
            <a:ahLst/>
            <a:cxnLst/>
            <a:rect r="r" b="b" t="t" l="l"/>
            <a:pathLst>
              <a:path h="4669516" w="6568373">
                <a:moveTo>
                  <a:pt x="0" y="0"/>
                </a:moveTo>
                <a:lnTo>
                  <a:pt x="6568374" y="0"/>
                </a:lnTo>
                <a:lnTo>
                  <a:pt x="6568374" y="4669516"/>
                </a:lnTo>
                <a:lnTo>
                  <a:pt x="0" y="46695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40356" y="3598863"/>
            <a:ext cx="5994893" cy="4918141"/>
          </a:xfrm>
          <a:custGeom>
            <a:avLst/>
            <a:gdLst/>
            <a:ahLst/>
            <a:cxnLst/>
            <a:rect r="r" b="b" t="t" l="l"/>
            <a:pathLst>
              <a:path h="4918141" w="5994893">
                <a:moveTo>
                  <a:pt x="0" y="0"/>
                </a:moveTo>
                <a:lnTo>
                  <a:pt x="5994894" y="0"/>
                </a:lnTo>
                <a:lnTo>
                  <a:pt x="5994894" y="4918140"/>
                </a:lnTo>
                <a:lnTo>
                  <a:pt x="0" y="49181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15604" y="2358925"/>
            <a:ext cx="404439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Balgin"/>
                <a:ea typeface="Balgin"/>
                <a:cs typeface="Balgin"/>
                <a:sym typeface="Balgin"/>
              </a:rPr>
              <a:t>Geospatial Encoding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93011" y="2358925"/>
            <a:ext cx="356578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Balgin"/>
                <a:ea typeface="Balgin"/>
                <a:cs typeface="Balgin"/>
                <a:sym typeface="Balgin"/>
              </a:rPr>
              <a:t>Text Vectorization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8272" y="2488149"/>
            <a:ext cx="356578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Balgin"/>
                <a:ea typeface="Balgin"/>
                <a:cs typeface="Balgin"/>
                <a:sym typeface="Balgin"/>
              </a:rPr>
              <a:t>Numeric Scaling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9645" y="828958"/>
            <a:ext cx="795891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6188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Feature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093" y="4130194"/>
            <a:ext cx="4836156" cy="411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287" indent="-194644" lvl="1">
              <a:lnSpc>
                <a:spcPts val="2704"/>
              </a:lnSpc>
              <a:buFont typeface="Arial"/>
              <a:buChar char="•"/>
            </a:pPr>
            <a:r>
              <a:rPr lang="en-US" sz="1803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Numeric</a:t>
            </a:r>
            <a:r>
              <a:rPr lang="en-US" sz="1803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features were processed using median imputation to handle missing values.</a:t>
            </a:r>
          </a:p>
          <a:p>
            <a:pPr algn="l" marL="389287" indent="-194644" lvl="1">
              <a:lnSpc>
                <a:spcPts val="2704"/>
              </a:lnSpc>
              <a:buFont typeface="Arial"/>
              <a:buChar char="•"/>
            </a:pPr>
            <a:r>
              <a:rPr lang="en-US" sz="1803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After imputation, features were standardized using StandardScaler to normalize scales and reduce variance differences.</a:t>
            </a:r>
          </a:p>
          <a:p>
            <a:pPr algn="l" marL="389287" indent="-194644" lvl="1">
              <a:lnSpc>
                <a:spcPts val="2704"/>
              </a:lnSpc>
              <a:buFont typeface="Arial"/>
              <a:buChar char="•"/>
            </a:pPr>
            <a:r>
              <a:rPr lang="en-US" sz="1803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This prepares numeric inputs for consistent handling by the XGBoost model and prevents features with larger ranges from dominating splits.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186953" y="4038345"/>
            <a:ext cx="4177905" cy="479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287" indent="-194644" lvl="1">
              <a:lnSpc>
                <a:spcPts val="2704"/>
              </a:lnSpc>
              <a:buFont typeface="Arial"/>
              <a:buChar char="•"/>
            </a:pPr>
            <a:r>
              <a:rPr lang="en-US" sz="1803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Textual</a:t>
            </a:r>
            <a:r>
              <a:rPr lang="en-US" sz="1803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features (Flooring and Levels) were transformed using TF-IDF vectorization (max 100 features each).</a:t>
            </a:r>
          </a:p>
          <a:p>
            <a:pPr algn="l" marL="389287" indent="-194644" lvl="1">
              <a:lnSpc>
                <a:spcPts val="2704"/>
              </a:lnSpc>
              <a:buFont typeface="Arial"/>
              <a:buChar char="•"/>
            </a:pPr>
            <a:r>
              <a:rPr lang="en-US" sz="1803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Converts raw text into numeric vectors representing token importance, allowing the model to leverage descriptive property information effectively.</a:t>
            </a:r>
          </a:p>
          <a:p>
            <a:pPr algn="l" marL="389287" indent="-194644" lvl="1">
              <a:lnSpc>
                <a:spcPts val="2704"/>
              </a:lnSpc>
              <a:buFont typeface="Arial"/>
              <a:buChar char="•"/>
            </a:pPr>
            <a:r>
              <a:rPr lang="en-US" sz="1803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Ensures that repeated important terms contribute more to feature representation, enhancing predictive power.</a:t>
            </a:r>
          </a:p>
          <a:p>
            <a:pPr algn="l">
              <a:lnSpc>
                <a:spcPts val="27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589605" y="3968207"/>
            <a:ext cx="5096395" cy="411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287" indent="-194644" lvl="1">
              <a:lnSpc>
                <a:spcPts val="2704"/>
              </a:lnSpc>
              <a:buFont typeface="Arial"/>
              <a:buChar char="•"/>
            </a:pPr>
            <a:r>
              <a:rPr lang="en-US" sz="1803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Categorical location</a:t>
            </a:r>
            <a:r>
              <a:rPr lang="en-US" sz="1803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features (State, County, City) were encoded using hierarchical target encoding, replacing each category with the mean ClosePrice for that group.</a:t>
            </a:r>
          </a:p>
          <a:p>
            <a:pPr algn="l" marL="389287" indent="-194644" lvl="1">
              <a:lnSpc>
                <a:spcPts val="2704"/>
              </a:lnSpc>
              <a:buFont typeface="Arial"/>
              <a:buChar char="•"/>
            </a:pPr>
            <a:r>
              <a:rPr lang="en-US" sz="1803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Within each City, properties were grouped using KMeans clustering on (Latitude, Longitude) to generate City_Cluster labels.</a:t>
            </a:r>
          </a:p>
          <a:p>
            <a:pPr algn="l" marL="389287" indent="-194644" lvl="1">
              <a:lnSpc>
                <a:spcPts val="2704"/>
              </a:lnSpc>
              <a:buFont typeface="Arial"/>
              <a:buChar char="•"/>
            </a:pPr>
            <a:r>
              <a:rPr lang="en-US" sz="1803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This captures both local pricing patterns and neighborhood-level spatial clusters, helping the model distinguish areas with systematically different prices.</a:t>
            </a:r>
          </a:p>
          <a:p>
            <a:pPr algn="l">
              <a:lnSpc>
                <a:spcPts val="2704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62484">
            <a:off x="12250590" y="633304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8" y="0"/>
                </a:lnTo>
                <a:lnTo>
                  <a:pt x="7536668" y="14443092"/>
                </a:lnTo>
                <a:lnTo>
                  <a:pt x="0" y="14443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11309">
            <a:off x="11414946" y="-2485820"/>
            <a:ext cx="8410362" cy="8613965"/>
          </a:xfrm>
          <a:custGeom>
            <a:avLst/>
            <a:gdLst/>
            <a:ahLst/>
            <a:cxnLst/>
            <a:rect r="r" b="b" t="t" l="l"/>
            <a:pathLst>
              <a:path h="8613965" w="8410362">
                <a:moveTo>
                  <a:pt x="0" y="0"/>
                </a:moveTo>
                <a:lnTo>
                  <a:pt x="8410362" y="0"/>
                </a:lnTo>
                <a:lnTo>
                  <a:pt x="8410362" y="8613966"/>
                </a:lnTo>
                <a:lnTo>
                  <a:pt x="0" y="8613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6833" y="1019175"/>
            <a:ext cx="1426115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Model Tuning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72692">
            <a:off x="7764929" y="6953580"/>
            <a:ext cx="5145250" cy="5230846"/>
          </a:xfrm>
          <a:custGeom>
            <a:avLst/>
            <a:gdLst/>
            <a:ahLst/>
            <a:cxnLst/>
            <a:rect r="r" b="b" t="t" l="l"/>
            <a:pathLst>
              <a:path h="5230846" w="5145250">
                <a:moveTo>
                  <a:pt x="0" y="0"/>
                </a:moveTo>
                <a:lnTo>
                  <a:pt x="5145250" y="0"/>
                </a:lnTo>
                <a:lnTo>
                  <a:pt x="5145250" y="5230846"/>
                </a:lnTo>
                <a:lnTo>
                  <a:pt x="0" y="5230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6833" y="2718026"/>
            <a:ext cx="17541167" cy="3824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Performed automated hyperparameter optimization with Optuna to minimize MdAPE (Median Absolute Percentage Error)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Integrated early stopping in every trial to prevent overfitting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Optimized key XGBoost parameters impacting tree structure, sampling, regularization, and learning rate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Achieved the lowest MdAPE.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921988"/>
            <a:ext cx="5095608" cy="254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Basis Results: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R²: 0.8038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MAPE: 22.77%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MdAPE: 14.97%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91704" y="6921988"/>
            <a:ext cx="5095608" cy="254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Best Results: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R²: 0.8111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MAPE: 22.21%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MdAPE: 14.36%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87311" y="6921988"/>
            <a:ext cx="6029406" cy="318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Conclusion: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There is no significant improvement. It could be the limitation of the model and the included features.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59194">
            <a:off x="-3069977" y="-2161008"/>
            <a:ext cx="11965643" cy="9529003"/>
          </a:xfrm>
          <a:custGeom>
            <a:avLst/>
            <a:gdLst/>
            <a:ahLst/>
            <a:cxnLst/>
            <a:rect r="r" b="b" t="t" l="l"/>
            <a:pathLst>
              <a:path h="9529003" w="11965643">
                <a:moveTo>
                  <a:pt x="0" y="0"/>
                </a:moveTo>
                <a:lnTo>
                  <a:pt x="11965644" y="0"/>
                </a:lnTo>
                <a:lnTo>
                  <a:pt x="11965644" y="9529003"/>
                </a:lnTo>
                <a:lnTo>
                  <a:pt x="0" y="9529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332087">
            <a:off x="10857803" y="-6975537"/>
            <a:ext cx="9588890" cy="18375921"/>
          </a:xfrm>
          <a:custGeom>
            <a:avLst/>
            <a:gdLst/>
            <a:ahLst/>
            <a:cxnLst/>
            <a:rect r="r" b="b" t="t" l="l"/>
            <a:pathLst>
              <a:path h="18375921" w="9588890">
                <a:moveTo>
                  <a:pt x="0" y="0"/>
                </a:moveTo>
                <a:lnTo>
                  <a:pt x="9588890" y="0"/>
                </a:lnTo>
                <a:lnTo>
                  <a:pt x="9588890" y="18375921"/>
                </a:lnTo>
                <a:lnTo>
                  <a:pt x="0" y="18375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622331">
            <a:off x="13236134" y="4790957"/>
            <a:ext cx="8489899" cy="5942929"/>
          </a:xfrm>
          <a:custGeom>
            <a:avLst/>
            <a:gdLst/>
            <a:ahLst/>
            <a:cxnLst/>
            <a:rect r="r" b="b" t="t" l="l"/>
            <a:pathLst>
              <a:path h="5942929" w="8489899">
                <a:moveTo>
                  <a:pt x="0" y="0"/>
                </a:moveTo>
                <a:lnTo>
                  <a:pt x="8489900" y="0"/>
                </a:lnTo>
                <a:lnTo>
                  <a:pt x="8489900" y="5942930"/>
                </a:lnTo>
                <a:lnTo>
                  <a:pt x="0" y="5942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380567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Next Step: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35896"/>
            <a:ext cx="723470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Exploring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97727"/>
            <a:ext cx="14216862" cy="317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Ratios:</a:t>
            </a:r>
          </a:p>
          <a:p>
            <a:pPr algn="l" marL="724933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P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rice per sqft = ClosePrice / LivingArea</a:t>
            </a:r>
          </a:p>
          <a:p>
            <a:pPr algn="l" marL="724933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Lot-to-living ratio = LotSizeArea / LivingArea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Further analysis on price by region:</a:t>
            </a:r>
          </a:p>
          <a:p>
            <a:pPr algn="l" marL="724933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Include median and variance for each district.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696453"/>
            <a:ext cx="14216862" cy="253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Also, it could be the limitation of explainability on XGBoost.</a:t>
            </a:r>
          </a:p>
          <a:p>
            <a:pPr algn="l">
              <a:lnSpc>
                <a:spcPts val="5036"/>
              </a:lnSpc>
            </a:pP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We can explore on other advanced model as well such as CatBoost 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and MLP. Or mix models by ensemble.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44120" y="2654607"/>
          <a:ext cx="16230600" cy="5481844"/>
        </p:xfrm>
        <a:graphic>
          <a:graphicData uri="http://schemas.openxmlformats.org/drawingml/2006/table">
            <a:tbl>
              <a:tblPr/>
              <a:tblGrid>
                <a:gridCol w="5303405"/>
                <a:gridCol w="5303405"/>
                <a:gridCol w="5623791"/>
              </a:tblGrid>
              <a:tr h="1048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Definition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Advantage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Disadvantage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</a:tr>
              <a:tr h="4433714">
                <a:tc>
                  <a:txBody>
                    <a:bodyPr anchor="t" rtlCol="false"/>
                    <a:lstStyle/>
                    <a:p>
                      <a:pPr algn="l" marL="391280" indent="-195640" lvl="1">
                        <a:lnSpc>
                          <a:spcPts val="2537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Multilayer Perceptron, a kind of </a:t>
                      </a:r>
                      <a:r>
                        <a:rPr lang="en-US" b="true" sz="1812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neuron network</a:t>
                      </a: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with multiple layers</a:t>
                      </a:r>
                      <a:endParaRPr lang="en-US" sz="1100"/>
                    </a:p>
                    <a:p>
                      <a:pPr algn="l">
                        <a:lnSpc>
                          <a:spcPts val="2537"/>
                        </a:lnSpc>
                      </a:pPr>
                    </a:p>
                    <a:p>
                      <a:pPr algn="l" marL="391280" indent="-195640" lvl="1">
                        <a:lnSpc>
                          <a:spcPts val="2537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Input → layer 1 → layer 2 → ... → output</a:t>
                      </a:r>
                    </a:p>
                    <a:p>
                      <a:pPr algn="l">
                        <a:lnSpc>
                          <a:spcPts val="2537"/>
                        </a:lnSpc>
                      </a:pPr>
                    </a:p>
                    <a:p>
                      <a:pPr algn="l" marL="391280" indent="-195640" lvl="1">
                        <a:lnSpc>
                          <a:spcPts val="2537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Nonlinear activation function</a:t>
                      </a:r>
                    </a:p>
                    <a:p>
                      <a:pPr algn="l">
                        <a:lnSpc>
                          <a:spcPts val="2537"/>
                        </a:lnSpc>
                      </a:pPr>
                    </a:p>
                    <a:p>
                      <a:pPr algn="l" marL="391280" indent="-195640" lvl="1">
                        <a:lnSpc>
                          <a:spcPts val="2537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Can be used for classification and regression tasks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91280" indent="-195640" lvl="1">
                        <a:lnSpc>
                          <a:spcPts val="2537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Flexible design, suitable for ANY function</a:t>
                      </a:r>
                      <a:endParaRPr lang="en-US" sz="1100"/>
                    </a:p>
                    <a:p>
                      <a:pPr algn="l">
                        <a:lnSpc>
                          <a:spcPts val="2537"/>
                        </a:lnSpc>
                      </a:pPr>
                    </a:p>
                    <a:p>
                      <a:pPr algn="l" marL="391280" indent="-195640" lvl="1">
                        <a:lnSpc>
                          <a:spcPts val="2537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Strong accuracy with large datasets</a:t>
                      </a:r>
                    </a:p>
                    <a:p>
                      <a:pPr algn="l">
                        <a:lnSpc>
                          <a:spcPts val="2537"/>
                        </a:lnSpc>
                      </a:pPr>
                    </a:p>
                    <a:p>
                      <a:pPr algn="l" marL="391280" indent="-195640" lvl="1">
                        <a:lnSpc>
                          <a:spcPts val="2537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Regression, Classification, Pattern recognition, ... </a:t>
                      </a:r>
                    </a:p>
                    <a:p>
                      <a:pPr algn="l">
                        <a:lnSpc>
                          <a:spcPts val="2537"/>
                        </a:lnSpc>
                      </a:pPr>
                    </a:p>
                    <a:p>
                      <a:pPr algn="l" marL="391280" indent="-195640" lvl="1">
                        <a:lnSpc>
                          <a:spcPts val="2537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Housing price are often non-linear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91280" indent="-195640" lvl="1">
                        <a:lnSpc>
                          <a:spcPts val="2537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Large data &amp;  demanding computation resources</a:t>
                      </a:r>
                      <a:endParaRPr lang="en-US" sz="1100"/>
                    </a:p>
                    <a:p>
                      <a:pPr algn="l">
                        <a:lnSpc>
                          <a:spcPts val="2537"/>
                        </a:lnSpc>
                      </a:pPr>
                    </a:p>
                    <a:p>
                      <a:pPr algn="l" marL="391280" indent="-195640" lvl="1">
                        <a:lnSpc>
                          <a:spcPts val="2537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Highly hyper-parameter choices sensitive</a:t>
                      </a:r>
                    </a:p>
                    <a:p>
                      <a:pPr algn="l">
                        <a:lnSpc>
                          <a:spcPts val="2537"/>
                        </a:lnSpc>
                      </a:pPr>
                    </a:p>
                    <a:p>
                      <a:pPr algn="l" marL="391280" indent="-195640" lvl="1">
                        <a:lnSpc>
                          <a:spcPts val="2537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“Black-box” model</a:t>
                      </a:r>
                    </a:p>
                    <a:p>
                      <a:pPr algn="l">
                        <a:lnSpc>
                          <a:spcPts val="2537"/>
                        </a:lnSpc>
                      </a:pPr>
                    </a:p>
                    <a:p>
                      <a:pPr algn="l" marL="391280" indent="-195640" lvl="1">
                        <a:lnSpc>
                          <a:spcPts val="2537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Local minimum risk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584021"/>
            <a:ext cx="1022030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MLP Introduction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249006" y="806413"/>
            <a:ext cx="5201834" cy="863458"/>
            <a:chOff x="0" y="0"/>
            <a:chExt cx="6935779" cy="11512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69357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9"/>
                </a:lnSpc>
              </a:pPr>
              <a:r>
                <a:rPr lang="en-US" sz="2499">
                  <a:solidFill>
                    <a:srgbClr val="000000"/>
                  </a:solidFill>
                  <a:latin typeface="Balgin"/>
                  <a:ea typeface="Balgin"/>
                  <a:cs typeface="Balgin"/>
                  <a:sym typeface="Balgin"/>
                </a:rPr>
                <a:t>What is MLP Regression?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18936"/>
              <a:ext cx="69357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9"/>
                </a:lnSpc>
              </a:pPr>
              <a:r>
                <a:rPr lang="en-US" sz="2499">
                  <a:solidFill>
                    <a:srgbClr val="000000"/>
                  </a:solidFill>
                  <a:latin typeface="Balgin"/>
                  <a:ea typeface="Balgin"/>
                  <a:cs typeface="Balgin"/>
                  <a:sym typeface="Balgin"/>
                </a:rPr>
                <a:t>Why choose MLP Regression?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9817969">
            <a:off x="-11518484" y="70047"/>
            <a:ext cx="21898069" cy="14572170"/>
          </a:xfrm>
          <a:custGeom>
            <a:avLst/>
            <a:gdLst/>
            <a:ahLst/>
            <a:cxnLst/>
            <a:rect r="r" b="b" t="t" l="l"/>
            <a:pathLst>
              <a:path h="14572170" w="21898069">
                <a:moveTo>
                  <a:pt x="21898070" y="0"/>
                </a:moveTo>
                <a:lnTo>
                  <a:pt x="0" y="0"/>
                </a:lnTo>
                <a:lnTo>
                  <a:pt x="0" y="14572169"/>
                </a:lnTo>
                <a:lnTo>
                  <a:pt x="21898070" y="14572169"/>
                </a:lnTo>
                <a:lnTo>
                  <a:pt x="218980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70363" y="1642631"/>
          <a:ext cx="12363279" cy="7615669"/>
        </p:xfrm>
        <a:graphic>
          <a:graphicData uri="http://schemas.openxmlformats.org/drawingml/2006/table">
            <a:tbl>
              <a:tblPr/>
              <a:tblGrid>
                <a:gridCol w="3527048"/>
                <a:gridCol w="8836232"/>
              </a:tblGrid>
              <a:tr h="17908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Outliers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Filter both </a:t>
                      </a:r>
                      <a:r>
                        <a:rPr lang="en-US" b="true" sz="2099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Price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and </a:t>
                      </a:r>
                      <a:r>
                        <a:rPr lang="en-US" b="true" sz="2099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Price Per Square Feet</a:t>
                      </a:r>
                      <a:endParaRPr lang="en-US" sz="1100"/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b="true" sz="2099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Upper bound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: min(Tukey bound, quantile bound) - stable results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Price &lt; $10000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  <a:tr h="47521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Feature Building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2099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Additional variables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: Property Age, Baths per Bed, Lot per Living,  log(Living Area)**2, log(Living Area)*Total Bathrooms</a:t>
                      </a:r>
                      <a:endParaRPr lang="en-US" sz="1100"/>
                    </a:p>
                    <a:p>
                      <a:pPr algn="l">
                        <a:lnSpc>
                          <a:spcPts val="2939"/>
                        </a:lnSpc>
                      </a:pP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b="true" sz="2099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Out-of-fold target encoding with smoothing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: deal with geographic features (City, Zip, ...)</a:t>
                      </a:r>
                    </a:p>
                    <a:p>
                      <a:pPr algn="l">
                        <a:lnSpc>
                          <a:spcPts val="2939"/>
                        </a:lnSpc>
                      </a:pP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b="true" sz="2099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Multi-scale RBF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(radial basis function): transfer longitude and latitude variables to distances to related centers</a:t>
                      </a:r>
                    </a:p>
                    <a:p>
                      <a:pPr algn="l">
                        <a:lnSpc>
                          <a:spcPts val="2939"/>
                        </a:lnSpc>
                      </a:pP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b="true" sz="2099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Out-of-fold KNN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: the impact of prices in neighborhood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  <a:tr h="10727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Final Input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Total number of features: </a:t>
                      </a:r>
                      <a:r>
                        <a:rPr lang="en-US" b="true" sz="2099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188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2733642" y="6738098"/>
            <a:ext cx="5554358" cy="3538329"/>
          </a:xfrm>
          <a:custGeom>
            <a:avLst/>
            <a:gdLst/>
            <a:ahLst/>
            <a:cxnLst/>
            <a:rect r="r" b="b" t="t" l="l"/>
            <a:pathLst>
              <a:path h="3538329" w="5554358">
                <a:moveTo>
                  <a:pt x="0" y="0"/>
                </a:moveTo>
                <a:lnTo>
                  <a:pt x="5554358" y="0"/>
                </a:lnTo>
                <a:lnTo>
                  <a:pt x="5554358" y="3538329"/>
                </a:lnTo>
                <a:lnTo>
                  <a:pt x="0" y="3538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7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0363" y="337384"/>
            <a:ext cx="1071304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Feature Engineering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88326">
            <a:off x="-162912" y="222186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2"/>
                </a:lnTo>
                <a:lnTo>
                  <a:pt x="0" y="14443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83987" y="4244636"/>
            <a:ext cx="11189031" cy="7303385"/>
          </a:xfrm>
          <a:custGeom>
            <a:avLst/>
            <a:gdLst/>
            <a:ahLst/>
            <a:cxnLst/>
            <a:rect r="r" b="b" t="t" l="l"/>
            <a:pathLst>
              <a:path h="7303385" w="11189031">
                <a:moveTo>
                  <a:pt x="0" y="0"/>
                </a:moveTo>
                <a:lnTo>
                  <a:pt x="11189030" y="0"/>
                </a:lnTo>
                <a:lnTo>
                  <a:pt x="11189030" y="7303385"/>
                </a:lnTo>
                <a:lnTo>
                  <a:pt x="0" y="73033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09672" y="204129"/>
            <a:ext cx="790283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MLP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9672" y="1251879"/>
            <a:ext cx="12372817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Model structure</a:t>
            </a:r>
            <a:r>
              <a:rPr lang="en-US" sz="2499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: Input → Dense(512) → Dense(256) → Dense(128) → Output(1)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9672" y="1748281"/>
            <a:ext cx="4665842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Output(1) is </a:t>
            </a:r>
            <a:r>
              <a:rPr lang="en-US" sz="2499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log(Price)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90644" y="2282782"/>
          <a:ext cx="16706712" cy="7846861"/>
        </p:xfrm>
        <a:graphic>
          <a:graphicData uri="http://schemas.openxmlformats.org/drawingml/2006/table">
            <a:tbl>
              <a:tblPr/>
              <a:tblGrid>
                <a:gridCol w="5568904"/>
                <a:gridCol w="5568904"/>
                <a:gridCol w="5568904"/>
              </a:tblGrid>
              <a:tr h="86874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6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599" strike="noStrike" u="non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Model Overview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6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599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Training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6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599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Post Training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</a:tr>
              <a:tr h="1380145">
                <a:tc>
                  <a:txBody>
                    <a:bodyPr anchor="t" rtlCol="false"/>
                    <a:lstStyle/>
                    <a:p>
                      <a:pPr algn="l" marL="496569" indent="-248284" lvl="1">
                        <a:lnSpc>
                          <a:spcPts val="32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Dense -&gt; ReLU</a:t>
                      </a:r>
                      <a:endParaRPr lang="en-US" sz="1100"/>
                    </a:p>
                    <a:p>
                      <a:pPr algn="l" marL="496569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BatchNorm -&gt; Dropout -&gt; L2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96569" indent="-248284" lvl="1">
                        <a:lnSpc>
                          <a:spcPts val="32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Early stopping + LR scheduler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96569" indent="-248284" lvl="1">
                        <a:lnSpc>
                          <a:spcPts val="32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Smearing Correction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DC"/>
                    </a:solidFill>
                  </a:tcPr>
                </a:tc>
              </a:tr>
              <a:tr h="55979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Dense + ReLU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brings:</a:t>
                      </a: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    1. Non-linearity;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    2. Model stability;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    3. Computation efficiency;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    4. Approximation to any function.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BatchNorm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- layer normalization, brings: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    1. Faster convergence;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    2. Overfitting prevention - </a:t>
                      </a: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layer level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.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Dropout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brings: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    1. Overfitting prevention - </a:t>
                      </a: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neuron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level.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L2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brings: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     1. Overfitting prevention - </a:t>
                      </a: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weight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level.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just">
                        <a:lnSpc>
                          <a:spcPts val="2940"/>
                        </a:lnSpc>
                      </a:pPr>
                    </a:p>
                    <a:p>
                      <a:pPr algn="just">
                        <a:lnSpc>
                          <a:spcPts val="2940"/>
                        </a:lnSpc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Early stopping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brings: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1. Best performance checkpoint;</a:t>
                      </a:r>
                    </a:p>
                    <a:p>
                      <a:pPr algn="just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2. Overfitting prevention.</a:t>
                      </a:r>
                    </a:p>
                    <a:p>
                      <a:pPr algn="just">
                        <a:lnSpc>
                          <a:spcPts val="2940"/>
                        </a:lnSpc>
                      </a:pPr>
                    </a:p>
                    <a:p>
                      <a:pPr algn="just">
                        <a:lnSpc>
                          <a:spcPts val="2940"/>
                        </a:lnSpc>
                      </a:pP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Learning rate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scheduler brings: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     1. Fine-tune around the minimum.</a:t>
                      </a:r>
                    </a:p>
                  </a:txBody>
                  <a:tcPr marL="190500" marR="190500" marT="190500" marB="190500" anchor="t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</a:p>
                    <a:p>
                      <a:pPr algn="l">
                        <a:lnSpc>
                          <a:spcPts val="2940"/>
                        </a:lnSpc>
                      </a:pPr>
                    </a:p>
                    <a:p>
                      <a:pPr algn="l">
                        <a:lnSpc>
                          <a:spcPts val="2940"/>
                        </a:lnSpc>
                      </a:pP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Smearing correction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brings: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    1. Downward bias caused by exponentiation log-predictions</a:t>
                      </a:r>
                    </a:p>
                    <a:p>
                      <a:pPr algn="l">
                        <a:lnSpc>
                          <a:spcPts val="3639"/>
                        </a:lnSpc>
                      </a:pPr>
                    </a:p>
                  </a:txBody>
                  <a:tcPr marL="190500" marR="190500" marT="190500" marB="190500" anchor="t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9817969">
            <a:off x="-11518484" y="70047"/>
            <a:ext cx="21898069" cy="14572170"/>
          </a:xfrm>
          <a:custGeom>
            <a:avLst/>
            <a:gdLst/>
            <a:ahLst/>
            <a:cxnLst/>
            <a:rect r="r" b="b" t="t" l="l"/>
            <a:pathLst>
              <a:path h="14572170" w="21898069">
                <a:moveTo>
                  <a:pt x="21898070" y="0"/>
                </a:moveTo>
                <a:lnTo>
                  <a:pt x="0" y="0"/>
                </a:lnTo>
                <a:lnTo>
                  <a:pt x="0" y="14572169"/>
                </a:lnTo>
                <a:lnTo>
                  <a:pt x="21898070" y="14572169"/>
                </a:lnTo>
                <a:lnTo>
                  <a:pt x="218980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38729" y="1908776"/>
          <a:ext cx="3761388" cy="2771321"/>
        </p:xfrm>
        <a:graphic>
          <a:graphicData uri="http://schemas.openxmlformats.org/drawingml/2006/table">
            <a:tbl>
              <a:tblPr/>
              <a:tblGrid>
                <a:gridCol w="1880694"/>
                <a:gridCol w="1880694"/>
              </a:tblGrid>
              <a:tr h="9744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87.15%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  <a:tr h="8984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MAPE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12.79%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  <a:tr h="8984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MdAPE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8.72%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524167" y="3180818"/>
          <a:ext cx="3761388" cy="2771321"/>
        </p:xfrm>
        <a:graphic>
          <a:graphicData uri="http://schemas.openxmlformats.org/drawingml/2006/table">
            <a:tbl>
              <a:tblPr/>
              <a:tblGrid>
                <a:gridCol w="1880694"/>
                <a:gridCol w="1880694"/>
              </a:tblGrid>
              <a:tr h="8984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0.32%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  <a:tr h="8984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MAPE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13.2%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  <a:tr h="9744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MdAPE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8.83%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2178338" y="3180818"/>
          <a:ext cx="5121542" cy="2771321"/>
        </p:xfrm>
        <a:graphic>
          <a:graphicData uri="http://schemas.openxmlformats.org/drawingml/2006/table">
            <a:tbl>
              <a:tblPr/>
              <a:tblGrid>
                <a:gridCol w="2385845"/>
                <a:gridCol w="1663680"/>
                <a:gridCol w="1072018"/>
              </a:tblGrid>
              <a:tr h="8984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-0.58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0k - 500k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</a:tr>
              <a:tr h="9744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0.33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500k-1000k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</a:tr>
              <a:tr h="8984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0.75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1000k-infk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69996" y="618055"/>
            <a:ext cx="12362158" cy="107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5"/>
              </a:lnSpc>
            </a:pPr>
            <a:r>
              <a:rPr lang="en-US" sz="6995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51075" y="1527776"/>
            <a:ext cx="793581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The model performs well on the cleaned dataset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BUT ...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16646" y="2654225"/>
            <a:ext cx="47923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Model performance on Full dataset: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09593" y="2654225"/>
            <a:ext cx="204512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Price Segment: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859" y="6537241"/>
            <a:ext cx="370143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Model Interpretation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9431" y="7441856"/>
            <a:ext cx="1020961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SHAP Method </a:t>
            </a:r>
            <a:r>
              <a:rPr lang="en-US" sz="2302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– Complex machine learning models interpretation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9431" y="6965606"/>
            <a:ext cx="1020961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  <a:spcBef>
                <a:spcPct val="0"/>
              </a:spcBef>
            </a:pPr>
            <a:r>
              <a:rPr lang="en-US" sz="2302">
                <a:solidFill>
                  <a:srgbClr val="6E8792"/>
                </a:solidFill>
                <a:latin typeface="Raleway 1"/>
                <a:ea typeface="Raleway 1"/>
                <a:cs typeface="Raleway 1"/>
                <a:sym typeface="Raleway 1"/>
              </a:rPr>
              <a:t>Can we interpret machine learning models?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46270" y="7914377"/>
            <a:ext cx="8130122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sz="2344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SHapley Additive exPlanations, a game-theoretic approach to explain the output of </a:t>
            </a:r>
            <a:r>
              <a:rPr lang="en-US" b="true" sz="2344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any machine learning model</a:t>
            </a:r>
            <a:r>
              <a:rPr lang="en-US" sz="2344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by calculating the </a:t>
            </a:r>
            <a:r>
              <a:rPr lang="en-US" b="true" sz="2344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marginal contribution</a:t>
            </a:r>
            <a:r>
              <a:rPr lang="en-US" sz="2344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of a feature to the prediction.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30033" y="7914377"/>
            <a:ext cx="370884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2"/>
              </a:lnSpc>
            </a:pPr>
            <a:r>
              <a:rPr lang="en-US" sz="2302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Advantage:</a:t>
            </a:r>
          </a:p>
          <a:p>
            <a:pPr algn="just" marL="497016" indent="-248508" lvl="1">
              <a:lnSpc>
                <a:spcPts val="2762"/>
              </a:lnSpc>
              <a:buAutoNum type="arabicPeriod" startAt="1"/>
            </a:pPr>
            <a:r>
              <a:rPr lang="en-US" sz="2302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Consistency</a:t>
            </a:r>
          </a:p>
          <a:p>
            <a:pPr algn="just" marL="497016" indent="-248508" lvl="1">
              <a:lnSpc>
                <a:spcPts val="2762"/>
              </a:lnSpc>
              <a:spcBef>
                <a:spcPct val="0"/>
              </a:spcBef>
              <a:buAutoNum type="arabicPeriod" startAt="1"/>
            </a:pPr>
            <a:r>
              <a:rPr lang="en-US" sz="2302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Directionality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9817969">
            <a:off x="-11518484" y="70047"/>
            <a:ext cx="21898069" cy="14572170"/>
          </a:xfrm>
          <a:custGeom>
            <a:avLst/>
            <a:gdLst/>
            <a:ahLst/>
            <a:cxnLst/>
            <a:rect r="r" b="b" t="t" l="l"/>
            <a:pathLst>
              <a:path h="14572170" w="21898069">
                <a:moveTo>
                  <a:pt x="21898070" y="0"/>
                </a:moveTo>
                <a:lnTo>
                  <a:pt x="0" y="0"/>
                </a:lnTo>
                <a:lnTo>
                  <a:pt x="0" y="14572169"/>
                </a:lnTo>
                <a:lnTo>
                  <a:pt x="21898070" y="14572169"/>
                </a:lnTo>
                <a:lnTo>
                  <a:pt x="218980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9996" y="618055"/>
            <a:ext cx="12362158" cy="107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5"/>
              </a:lnSpc>
            </a:pPr>
            <a:r>
              <a:rPr lang="en-US" sz="6995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9996" y="2449558"/>
            <a:ext cx="7158226" cy="316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357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This model prioritizes location over physical attributes.</a:t>
            </a:r>
          </a:p>
          <a:p>
            <a:pPr algn="l">
              <a:lnSpc>
                <a:spcPts val="2828"/>
              </a:lnSpc>
            </a:pPr>
          </a:p>
          <a:p>
            <a:pPr algn="l" marL="508950" indent="-254475" lvl="1">
              <a:lnSpc>
                <a:spcPts val="2828"/>
              </a:lnSpc>
              <a:buFont typeface="Arial"/>
              <a:buChar char="•"/>
            </a:pPr>
            <a:r>
              <a:rPr lang="en-US" b="true" sz="2357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Dominant Feature: </a:t>
            </a:r>
            <a:r>
              <a:rPr lang="en-US" sz="2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Spatial Lag</a:t>
            </a:r>
          </a:p>
          <a:p>
            <a:pPr algn="l">
              <a:lnSpc>
                <a:spcPts val="2828"/>
              </a:lnSpc>
            </a:pPr>
          </a:p>
          <a:p>
            <a:pPr algn="l" marL="508950" indent="-254475" lvl="1">
              <a:lnSpc>
                <a:spcPts val="2828"/>
              </a:lnSpc>
              <a:buFont typeface="Arial"/>
              <a:buChar char="•"/>
            </a:pPr>
            <a:r>
              <a:rPr lang="en-US" b="true" sz="2357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Macro-Location:</a:t>
            </a:r>
            <a:r>
              <a:rPr lang="en-US" sz="2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Zip Code</a:t>
            </a:r>
          </a:p>
          <a:p>
            <a:pPr algn="l">
              <a:lnSpc>
                <a:spcPts val="2828"/>
              </a:lnSpc>
            </a:pPr>
          </a:p>
          <a:p>
            <a:pPr algn="l" marL="508950" indent="-254475" lvl="1">
              <a:lnSpc>
                <a:spcPts val="2828"/>
              </a:lnSpc>
              <a:buFont typeface="Arial"/>
              <a:buChar char="•"/>
            </a:pPr>
            <a:r>
              <a:rPr lang="en-US" b="true" sz="2357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Physical Attributes: </a:t>
            </a:r>
            <a:r>
              <a:rPr lang="en-US" sz="2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Living area, Bedrooms, ...</a:t>
            </a:r>
          </a:p>
          <a:p>
            <a:pPr algn="l">
              <a:lnSpc>
                <a:spcPts val="282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491847" y="1028700"/>
            <a:ext cx="9453288" cy="7479915"/>
          </a:xfrm>
          <a:custGeom>
            <a:avLst/>
            <a:gdLst/>
            <a:ahLst/>
            <a:cxnLst/>
            <a:rect r="r" b="b" t="t" l="l"/>
            <a:pathLst>
              <a:path h="7479915" w="9453288">
                <a:moveTo>
                  <a:pt x="0" y="0"/>
                </a:moveTo>
                <a:lnTo>
                  <a:pt x="9453289" y="0"/>
                </a:lnTo>
                <a:lnTo>
                  <a:pt x="9453289" y="7479915"/>
                </a:lnTo>
                <a:lnTo>
                  <a:pt x="0" y="747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9996" y="8905875"/>
            <a:ext cx="1566914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7016" indent="-248508" lvl="1">
              <a:lnSpc>
                <a:spcPts val="276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This is a high performance model on cleaned data and high-end properties but with limitations on generalization.</a:t>
            </a:r>
          </a:p>
          <a:p>
            <a:pPr algn="l" marL="497016" indent="-248508" lvl="1">
              <a:lnSpc>
                <a:spcPts val="2762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Lower-priced homes have higher variance in property condition that out current data doesn’t capture.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9817969">
            <a:off x="-11518484" y="70047"/>
            <a:ext cx="21898069" cy="14572170"/>
          </a:xfrm>
          <a:custGeom>
            <a:avLst/>
            <a:gdLst/>
            <a:ahLst/>
            <a:cxnLst/>
            <a:rect r="r" b="b" t="t" l="l"/>
            <a:pathLst>
              <a:path h="14572170" w="21898069">
                <a:moveTo>
                  <a:pt x="21898070" y="0"/>
                </a:moveTo>
                <a:lnTo>
                  <a:pt x="0" y="0"/>
                </a:lnTo>
                <a:lnTo>
                  <a:pt x="0" y="14572169"/>
                </a:lnTo>
                <a:lnTo>
                  <a:pt x="21898070" y="14572169"/>
                </a:lnTo>
                <a:lnTo>
                  <a:pt x="218980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08689" y="5381425"/>
            <a:ext cx="8022593" cy="4753386"/>
          </a:xfrm>
          <a:custGeom>
            <a:avLst/>
            <a:gdLst/>
            <a:ahLst/>
            <a:cxnLst/>
            <a:rect r="r" b="b" t="t" l="l"/>
            <a:pathLst>
              <a:path h="4753386" w="8022593">
                <a:moveTo>
                  <a:pt x="0" y="0"/>
                </a:moveTo>
                <a:lnTo>
                  <a:pt x="8022592" y="0"/>
                </a:lnTo>
                <a:lnTo>
                  <a:pt x="8022592" y="4753386"/>
                </a:lnTo>
                <a:lnTo>
                  <a:pt x="0" y="4753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9996" y="618055"/>
            <a:ext cx="12362158" cy="107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5"/>
              </a:lnSpc>
            </a:pPr>
            <a:r>
              <a:rPr lang="en-US" sz="6995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Future steps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6719" y="2089537"/>
            <a:ext cx="15374563" cy="440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4380" indent="-317190" lvl="1">
              <a:lnSpc>
                <a:spcPts val="3525"/>
              </a:lnSpc>
              <a:buFont typeface="Arial"/>
              <a:buChar char="•"/>
            </a:pPr>
            <a:r>
              <a:rPr lang="en-US" b="true" sz="2938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Segmented modeling: </a:t>
            </a:r>
            <a:r>
              <a:rPr lang="en-US" sz="2938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Develop separate models for the Luxury Segment (&gt;1M) and the Economy Segment (&lt;500k).</a:t>
            </a:r>
          </a:p>
          <a:p>
            <a:pPr algn="l">
              <a:lnSpc>
                <a:spcPts val="3525"/>
              </a:lnSpc>
            </a:pPr>
          </a:p>
          <a:p>
            <a:pPr algn="l" marL="634380" indent="-317190" lvl="1">
              <a:lnSpc>
                <a:spcPts val="3525"/>
              </a:lnSpc>
              <a:buFont typeface="Arial"/>
              <a:buChar char="•"/>
            </a:pPr>
            <a:r>
              <a:rPr lang="en-US" b="true" sz="2938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Unstructured data integration: </a:t>
            </a:r>
            <a:r>
              <a:rPr lang="en-US" sz="2938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Incorporate NLP on listing descriptions or Computer Vision on property photos.</a:t>
            </a:r>
          </a:p>
          <a:p>
            <a:pPr algn="l">
              <a:lnSpc>
                <a:spcPts val="3525"/>
              </a:lnSpc>
            </a:pPr>
          </a:p>
          <a:p>
            <a:pPr algn="l" marL="634380" indent="-317190" lvl="1">
              <a:lnSpc>
                <a:spcPts val="3525"/>
              </a:lnSpc>
              <a:buFont typeface="Arial"/>
              <a:buChar char="•"/>
            </a:pPr>
            <a:r>
              <a:rPr lang="en-US" b="true" sz="2938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Robust loss functions: </a:t>
            </a:r>
            <a:r>
              <a:rPr lang="en-US" sz="2938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Experiment with Huber Loss or Quantile Regression instead of standard MSE.</a:t>
            </a:r>
          </a:p>
          <a:p>
            <a:pPr algn="l">
              <a:lnSpc>
                <a:spcPts val="3525"/>
              </a:lnSpc>
            </a:pPr>
          </a:p>
          <a:p>
            <a:pPr algn="l" marL="634380" indent="-317190" lvl="1">
              <a:lnSpc>
                <a:spcPts val="3525"/>
              </a:lnSpc>
              <a:buFont typeface="Arial"/>
              <a:buChar char="•"/>
            </a:pPr>
            <a:r>
              <a:rPr lang="en-US" b="true" sz="2938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Streamlit App: </a:t>
            </a:r>
            <a:r>
              <a:rPr lang="en-US" sz="2938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A real useable model.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62484">
            <a:off x="12250590" y="633304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8" y="0"/>
                </a:lnTo>
                <a:lnTo>
                  <a:pt x="7536668" y="14443092"/>
                </a:lnTo>
                <a:lnTo>
                  <a:pt x="0" y="14443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11309">
            <a:off x="11414946" y="-2485820"/>
            <a:ext cx="8410362" cy="8613965"/>
          </a:xfrm>
          <a:custGeom>
            <a:avLst/>
            <a:gdLst/>
            <a:ahLst/>
            <a:cxnLst/>
            <a:rect r="r" b="b" t="t" l="l"/>
            <a:pathLst>
              <a:path h="8613965" w="8410362">
                <a:moveTo>
                  <a:pt x="0" y="0"/>
                </a:moveTo>
                <a:lnTo>
                  <a:pt x="8410362" y="0"/>
                </a:lnTo>
                <a:lnTo>
                  <a:pt x="8410362" y="8613966"/>
                </a:lnTo>
                <a:lnTo>
                  <a:pt x="0" y="8613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2692">
            <a:off x="7764929" y="6953580"/>
            <a:ext cx="5145250" cy="5230846"/>
          </a:xfrm>
          <a:custGeom>
            <a:avLst/>
            <a:gdLst/>
            <a:ahLst/>
            <a:cxnLst/>
            <a:rect r="r" b="b" t="t" l="l"/>
            <a:pathLst>
              <a:path h="5230846" w="5145250">
                <a:moveTo>
                  <a:pt x="0" y="0"/>
                </a:moveTo>
                <a:lnTo>
                  <a:pt x="5145250" y="0"/>
                </a:lnTo>
                <a:lnTo>
                  <a:pt x="5145250" y="5230846"/>
                </a:lnTo>
                <a:lnTo>
                  <a:pt x="0" y="5230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6833" y="716975"/>
            <a:ext cx="1426115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What is CatBoost?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1498" y="2534574"/>
            <a:ext cx="8682502" cy="510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G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radient Boosting framework by Yandex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Optimized for tabular data with categorical featur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es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Handles categorical variables automatically</a:t>
            </a:r>
          </a:p>
          <a:p>
            <a:pPr algn="l" marL="724934" indent="-362467" lvl="1">
              <a:lnSpc>
                <a:spcPts val="5036"/>
              </a:lnSpc>
              <a:buFont typeface="Arial"/>
              <a:buChar char="•"/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Strong performan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ce with minimal preprocessing</a:t>
            </a:r>
          </a:p>
          <a:p>
            <a:pPr algn="l">
              <a:lnSpc>
                <a:spcPts val="5036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607258" y="3000064"/>
            <a:ext cx="7890093" cy="4734056"/>
            <a:chOff x="0" y="0"/>
            <a:chExt cx="6350000" cy="381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0" y="1905000"/>
                  </a:move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blipFill>
              <a:blip r:embed="rId8"/>
              <a:stretch>
                <a:fillRect l="-10000" t="0" r="-10000" b="0"/>
              </a:stretch>
            </a:blipFill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7108606">
            <a:off x="-2316851" y="-9236137"/>
            <a:ext cx="9639169" cy="18472274"/>
          </a:xfrm>
          <a:custGeom>
            <a:avLst/>
            <a:gdLst/>
            <a:ahLst/>
            <a:cxnLst/>
            <a:rect r="r" b="b" t="t" l="l"/>
            <a:pathLst>
              <a:path h="18472274" w="9639169">
                <a:moveTo>
                  <a:pt x="0" y="18472274"/>
                </a:moveTo>
                <a:lnTo>
                  <a:pt x="9639169" y="18472274"/>
                </a:lnTo>
                <a:lnTo>
                  <a:pt x="9639169" y="0"/>
                </a:lnTo>
                <a:lnTo>
                  <a:pt x="0" y="0"/>
                </a:lnTo>
                <a:lnTo>
                  <a:pt x="0" y="184722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871783" y="2712345"/>
            <a:ext cx="7753007" cy="7654333"/>
          </a:xfrm>
          <a:custGeom>
            <a:avLst/>
            <a:gdLst/>
            <a:ahLst/>
            <a:cxnLst/>
            <a:rect r="r" b="b" t="t" l="l"/>
            <a:pathLst>
              <a:path h="7654333" w="7753007">
                <a:moveTo>
                  <a:pt x="0" y="0"/>
                </a:moveTo>
                <a:lnTo>
                  <a:pt x="7753007" y="0"/>
                </a:lnTo>
                <a:lnTo>
                  <a:pt x="7753007" y="7654332"/>
                </a:lnTo>
                <a:lnTo>
                  <a:pt x="0" y="7654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755593">
            <a:off x="10700855" y="4576949"/>
            <a:ext cx="10643036" cy="7082457"/>
          </a:xfrm>
          <a:custGeom>
            <a:avLst/>
            <a:gdLst/>
            <a:ahLst/>
            <a:cxnLst/>
            <a:rect r="r" b="b" t="t" l="l"/>
            <a:pathLst>
              <a:path h="7082457" w="10643036">
                <a:moveTo>
                  <a:pt x="10643035" y="0"/>
                </a:moveTo>
                <a:lnTo>
                  <a:pt x="0" y="0"/>
                </a:lnTo>
                <a:lnTo>
                  <a:pt x="0" y="7082457"/>
                </a:lnTo>
                <a:lnTo>
                  <a:pt x="10643035" y="7082457"/>
                </a:lnTo>
                <a:lnTo>
                  <a:pt x="1064303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03695" y="3237138"/>
            <a:ext cx="7639249" cy="1385989"/>
            <a:chOff x="0" y="0"/>
            <a:chExt cx="10185665" cy="18479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85665" cy="1847986"/>
            </a:xfrm>
            <a:custGeom>
              <a:avLst/>
              <a:gdLst/>
              <a:ahLst/>
              <a:cxnLst/>
              <a:rect r="r" b="b" t="t" l="l"/>
              <a:pathLst>
                <a:path h="1847986" w="10185665">
                  <a:moveTo>
                    <a:pt x="0" y="0"/>
                  </a:moveTo>
                  <a:lnTo>
                    <a:pt x="10185665" y="0"/>
                  </a:lnTo>
                  <a:lnTo>
                    <a:pt x="10185665" y="1847986"/>
                  </a:lnTo>
                  <a:lnTo>
                    <a:pt x="0" y="184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2" t="0" r="-66919" b="-1816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949243" y="690273"/>
              <a:ext cx="8236893" cy="542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41"/>
                </a:lnSpc>
              </a:pPr>
              <a:r>
                <a:rPr lang="en-US" sz="2294">
                  <a:solidFill>
                    <a:srgbClr val="000000"/>
                  </a:solidFill>
                  <a:latin typeface="Raleway 1"/>
                  <a:ea typeface="Raleway 1"/>
                  <a:cs typeface="Raleway 1"/>
                  <a:sym typeface="Raleway 1"/>
                </a:rPr>
                <a:t>Automatic Handling of Categorical 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1557" y="3328372"/>
            <a:ext cx="7683961" cy="1203521"/>
            <a:chOff x="0" y="0"/>
            <a:chExt cx="10245281" cy="16046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5281" cy="1604695"/>
            </a:xfrm>
            <a:custGeom>
              <a:avLst/>
              <a:gdLst/>
              <a:ahLst/>
              <a:cxnLst/>
              <a:rect r="r" b="b" t="t" l="l"/>
              <a:pathLst>
                <a:path h="1604695" w="10245281">
                  <a:moveTo>
                    <a:pt x="0" y="0"/>
                  </a:moveTo>
                  <a:lnTo>
                    <a:pt x="10245281" y="0"/>
                  </a:lnTo>
                  <a:lnTo>
                    <a:pt x="10245281" y="1604695"/>
                  </a:lnTo>
                  <a:lnTo>
                    <a:pt x="0" y="1604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18199" r="-66333" b="-1819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608627" y="423460"/>
              <a:ext cx="6667604" cy="543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50"/>
                </a:lnSpc>
              </a:pPr>
              <a:r>
                <a:rPr lang="en-US" sz="2300">
                  <a:solidFill>
                    <a:srgbClr val="000000"/>
                  </a:solidFill>
                  <a:latin typeface="Raleway 1"/>
                  <a:ea typeface="Raleway 1"/>
                  <a:cs typeface="Raleway 1"/>
                  <a:sym typeface="Raleway 1"/>
                </a:rPr>
                <a:t>Slower on Very Large Datasets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41557" y="7396564"/>
            <a:ext cx="7683961" cy="1203521"/>
            <a:chOff x="0" y="0"/>
            <a:chExt cx="10245281" cy="1604695"/>
          </a:xfrm>
        </p:grpSpPr>
        <p:sp>
          <p:nvSpPr>
            <p:cNvPr name="Freeform 12" id="12"/>
            <p:cNvSpPr/>
            <p:nvPr/>
          </p:nvSpPr>
          <p:spPr>
            <a:xfrm flipH="false" flipV="true" rot="0">
              <a:off x="0" y="0"/>
              <a:ext cx="10245281" cy="1604695"/>
            </a:xfrm>
            <a:custGeom>
              <a:avLst/>
              <a:gdLst/>
              <a:ahLst/>
              <a:cxnLst/>
              <a:rect r="r" b="b" t="t" l="l"/>
              <a:pathLst>
                <a:path h="1604695" w="10245281">
                  <a:moveTo>
                    <a:pt x="0" y="1604695"/>
                  </a:moveTo>
                  <a:lnTo>
                    <a:pt x="10245281" y="1604695"/>
                  </a:lnTo>
                  <a:lnTo>
                    <a:pt x="10245281" y="0"/>
                  </a:lnTo>
                  <a:lnTo>
                    <a:pt x="0" y="0"/>
                  </a:lnTo>
                  <a:lnTo>
                    <a:pt x="0" y="1604695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18199" r="-66333" b="-1819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608627" y="492467"/>
              <a:ext cx="6667604" cy="543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50"/>
                </a:lnSpc>
              </a:pPr>
              <a:r>
                <a:rPr lang="en-US" sz="2300">
                  <a:solidFill>
                    <a:srgbClr val="000000"/>
                  </a:solidFill>
                  <a:latin typeface="Raleway 1"/>
                  <a:ea typeface="Raleway 1"/>
                  <a:cs typeface="Raleway 1"/>
                  <a:sym typeface="Raleway 1"/>
                </a:rPr>
                <a:t>Limited Interpretability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41557" y="5143500"/>
            <a:ext cx="7683961" cy="1641671"/>
            <a:chOff x="0" y="0"/>
            <a:chExt cx="10245281" cy="2188895"/>
          </a:xfrm>
        </p:grpSpPr>
        <p:sp>
          <p:nvSpPr>
            <p:cNvPr name="Freeform 15" id="15"/>
            <p:cNvSpPr/>
            <p:nvPr/>
          </p:nvSpPr>
          <p:spPr>
            <a:xfrm flipH="true" flipV="false" rot="0">
              <a:off x="0" y="0"/>
              <a:ext cx="10245281" cy="2188895"/>
            </a:xfrm>
            <a:custGeom>
              <a:avLst/>
              <a:gdLst/>
              <a:ahLst/>
              <a:cxnLst/>
              <a:rect r="r" b="b" t="t" l="l"/>
              <a:pathLst>
                <a:path h="2188895" w="10245281">
                  <a:moveTo>
                    <a:pt x="10245281" y="0"/>
                  </a:moveTo>
                  <a:lnTo>
                    <a:pt x="0" y="0"/>
                  </a:lnTo>
                  <a:lnTo>
                    <a:pt x="0" y="2188895"/>
                  </a:lnTo>
                  <a:lnTo>
                    <a:pt x="10245281" y="2188895"/>
                  </a:lnTo>
                  <a:lnTo>
                    <a:pt x="10245281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2" t="0" r="-6633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428415" y="784567"/>
              <a:ext cx="7388452" cy="543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50"/>
                </a:lnSpc>
              </a:pPr>
              <a:r>
                <a:rPr lang="en-US" sz="2300">
                  <a:solidFill>
                    <a:srgbClr val="000000"/>
                  </a:solidFill>
                  <a:latin typeface="Raleway 1"/>
                  <a:ea typeface="Raleway 1"/>
                  <a:cs typeface="Raleway 1"/>
                  <a:sym typeface="Raleway 1"/>
                </a:rPr>
                <a:t>Fewer Hyperparameter Tuning Options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42776" y="1147120"/>
            <a:ext cx="716108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5500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Advantages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02994" y="1147120"/>
            <a:ext cx="716108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5500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Disadvantages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3695" y="5489902"/>
            <a:ext cx="7639249" cy="948867"/>
            <a:chOff x="0" y="0"/>
            <a:chExt cx="10185665" cy="12651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85665" cy="1265156"/>
            </a:xfrm>
            <a:custGeom>
              <a:avLst/>
              <a:gdLst/>
              <a:ahLst/>
              <a:cxnLst/>
              <a:rect r="r" b="b" t="t" l="l"/>
              <a:pathLst>
                <a:path h="1265156" w="10185665">
                  <a:moveTo>
                    <a:pt x="0" y="0"/>
                  </a:moveTo>
                  <a:lnTo>
                    <a:pt x="10185665" y="0"/>
                  </a:lnTo>
                  <a:lnTo>
                    <a:pt x="10185665" y="1265156"/>
                  </a:lnTo>
                  <a:lnTo>
                    <a:pt x="0" y="1265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23030" r="-66914" b="-4956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604854" y="422288"/>
              <a:ext cx="6651967" cy="542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41"/>
                </a:lnSpc>
              </a:pPr>
              <a:r>
                <a:rPr lang="en-US" sz="2294">
                  <a:solidFill>
                    <a:srgbClr val="000000"/>
                  </a:solidFill>
                  <a:latin typeface="Raleway 1"/>
                  <a:ea typeface="Raleway 1"/>
                  <a:cs typeface="Raleway 1"/>
                  <a:sym typeface="Raleway 1"/>
                </a:rPr>
                <a:t>Symmetric Tree Structure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3695" y="7305330"/>
            <a:ext cx="7639249" cy="1385989"/>
            <a:chOff x="0" y="0"/>
            <a:chExt cx="10185665" cy="18479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85665" cy="1847986"/>
            </a:xfrm>
            <a:custGeom>
              <a:avLst/>
              <a:gdLst/>
              <a:ahLst/>
              <a:cxnLst/>
              <a:rect r="r" b="b" t="t" l="l"/>
              <a:pathLst>
                <a:path h="1847986" w="10185665">
                  <a:moveTo>
                    <a:pt x="0" y="0"/>
                  </a:moveTo>
                  <a:lnTo>
                    <a:pt x="10185665" y="0"/>
                  </a:lnTo>
                  <a:lnTo>
                    <a:pt x="10185665" y="1847986"/>
                  </a:lnTo>
                  <a:lnTo>
                    <a:pt x="0" y="184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2" t="0" r="-66919" b="-1816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156131" y="746757"/>
              <a:ext cx="7873404" cy="542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41"/>
                </a:lnSpc>
              </a:pPr>
              <a:r>
                <a:rPr lang="en-US" sz="2294">
                  <a:solidFill>
                    <a:srgbClr val="000000"/>
                  </a:solidFill>
                  <a:latin typeface="Raleway 1"/>
                  <a:ea typeface="Raleway 1"/>
                  <a:cs typeface="Raleway 1"/>
                  <a:sym typeface="Raleway 1"/>
                </a:rPr>
                <a:t>Supports GPU Training and Missing Values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45749" y="3175123"/>
          <a:ext cx="16996501" cy="5917357"/>
        </p:xfrm>
        <a:graphic>
          <a:graphicData uri="http://schemas.openxmlformats.org/drawingml/2006/table">
            <a:tbl>
              <a:tblPr/>
              <a:tblGrid>
                <a:gridCol w="4264350"/>
                <a:gridCol w="4107462"/>
                <a:gridCol w="4185906"/>
                <a:gridCol w="4438782"/>
              </a:tblGrid>
              <a:tr h="1131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Cleaning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Filtering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Pruning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Target Transformation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</a:tr>
              <a:tr h="4785956"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Converted string-based numeric fields to numeric types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Retained only Residential and SingleFamilyResidence properties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Removed listing-related fields</a:t>
                      </a:r>
                      <a:endParaRPr lang="en-US" sz="1100"/>
                    </a:p>
                    <a:p>
                      <a:pPr algn="l">
                        <a:lnSpc>
                          <a:spcPts val="3499"/>
                        </a:lnSpc>
                      </a:pPr>
                    </a:p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Kept 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only samples with sale prices within the 0.5%–99.5% quantile range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Applied log1p(ClosePrice) → y_log to red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uce skewness in price distribution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009650"/>
            <a:ext cx="1022030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Data Preprocessing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7108606">
            <a:off x="-2316851" y="-9236137"/>
            <a:ext cx="9639169" cy="18472274"/>
          </a:xfrm>
          <a:custGeom>
            <a:avLst/>
            <a:gdLst/>
            <a:ahLst/>
            <a:cxnLst/>
            <a:rect r="r" b="b" t="t" l="l"/>
            <a:pathLst>
              <a:path h="18472274" w="9639169">
                <a:moveTo>
                  <a:pt x="0" y="18472274"/>
                </a:moveTo>
                <a:lnTo>
                  <a:pt x="9639169" y="18472274"/>
                </a:lnTo>
                <a:lnTo>
                  <a:pt x="9639169" y="0"/>
                </a:lnTo>
                <a:lnTo>
                  <a:pt x="0" y="0"/>
                </a:lnTo>
                <a:lnTo>
                  <a:pt x="0" y="184722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871783" y="2712345"/>
            <a:ext cx="7753007" cy="7654333"/>
          </a:xfrm>
          <a:custGeom>
            <a:avLst/>
            <a:gdLst/>
            <a:ahLst/>
            <a:cxnLst/>
            <a:rect r="r" b="b" t="t" l="l"/>
            <a:pathLst>
              <a:path h="7654333" w="7753007">
                <a:moveTo>
                  <a:pt x="0" y="0"/>
                </a:moveTo>
                <a:lnTo>
                  <a:pt x="7753007" y="0"/>
                </a:lnTo>
                <a:lnTo>
                  <a:pt x="7753007" y="7654332"/>
                </a:lnTo>
                <a:lnTo>
                  <a:pt x="0" y="7654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0687" y="4856672"/>
            <a:ext cx="4272496" cy="3882036"/>
            <a:chOff x="0" y="0"/>
            <a:chExt cx="1125266" cy="1022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5266" cy="1022429"/>
            </a:xfrm>
            <a:custGeom>
              <a:avLst/>
              <a:gdLst/>
              <a:ahLst/>
              <a:cxnLst/>
              <a:rect r="r" b="b" t="t" l="l"/>
              <a:pathLst>
                <a:path h="1022429" w="1125266">
                  <a:moveTo>
                    <a:pt x="92414" y="0"/>
                  </a:moveTo>
                  <a:lnTo>
                    <a:pt x="1032853" y="0"/>
                  </a:lnTo>
                  <a:cubicBezTo>
                    <a:pt x="1057362" y="0"/>
                    <a:pt x="1080868" y="9736"/>
                    <a:pt x="1098199" y="27067"/>
                  </a:cubicBezTo>
                  <a:cubicBezTo>
                    <a:pt x="1115530" y="44398"/>
                    <a:pt x="1125266" y="67904"/>
                    <a:pt x="1125266" y="92414"/>
                  </a:cubicBezTo>
                  <a:lnTo>
                    <a:pt x="1125266" y="930016"/>
                  </a:lnTo>
                  <a:cubicBezTo>
                    <a:pt x="1125266" y="954525"/>
                    <a:pt x="1115530" y="978031"/>
                    <a:pt x="1098199" y="995362"/>
                  </a:cubicBezTo>
                  <a:cubicBezTo>
                    <a:pt x="1080868" y="1012693"/>
                    <a:pt x="1057362" y="1022429"/>
                    <a:pt x="1032853" y="1022429"/>
                  </a:cubicBezTo>
                  <a:lnTo>
                    <a:pt x="92414" y="1022429"/>
                  </a:lnTo>
                  <a:cubicBezTo>
                    <a:pt x="67904" y="1022429"/>
                    <a:pt x="44398" y="1012693"/>
                    <a:pt x="27067" y="995362"/>
                  </a:cubicBezTo>
                  <a:cubicBezTo>
                    <a:pt x="9736" y="978031"/>
                    <a:pt x="0" y="954525"/>
                    <a:pt x="0" y="930016"/>
                  </a:cubicBezTo>
                  <a:lnTo>
                    <a:pt x="0" y="92414"/>
                  </a:lnTo>
                  <a:cubicBezTo>
                    <a:pt x="0" y="67904"/>
                    <a:pt x="9736" y="44398"/>
                    <a:pt x="27067" y="27067"/>
                  </a:cubicBezTo>
                  <a:cubicBezTo>
                    <a:pt x="44398" y="9736"/>
                    <a:pt x="67904" y="0"/>
                    <a:pt x="9241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25266" cy="1060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-755593">
            <a:off x="10700855" y="4576949"/>
            <a:ext cx="10643036" cy="7082457"/>
          </a:xfrm>
          <a:custGeom>
            <a:avLst/>
            <a:gdLst/>
            <a:ahLst/>
            <a:cxnLst/>
            <a:rect r="r" b="b" t="t" l="l"/>
            <a:pathLst>
              <a:path h="7082457" w="10643036">
                <a:moveTo>
                  <a:pt x="10643035" y="0"/>
                </a:moveTo>
                <a:lnTo>
                  <a:pt x="0" y="0"/>
                </a:lnTo>
                <a:lnTo>
                  <a:pt x="0" y="7082457"/>
                </a:lnTo>
                <a:lnTo>
                  <a:pt x="10643035" y="7082457"/>
                </a:lnTo>
                <a:lnTo>
                  <a:pt x="1064303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42776" y="937570"/>
            <a:ext cx="716108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Model Iteration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14708" y="4856672"/>
            <a:ext cx="3821966" cy="3882036"/>
            <a:chOff x="0" y="0"/>
            <a:chExt cx="1006608" cy="10224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6608" cy="1022429"/>
            </a:xfrm>
            <a:custGeom>
              <a:avLst/>
              <a:gdLst/>
              <a:ahLst/>
              <a:cxnLst/>
              <a:rect r="r" b="b" t="t" l="l"/>
              <a:pathLst>
                <a:path h="1022429" w="1006608">
                  <a:moveTo>
                    <a:pt x="103308" y="0"/>
                  </a:moveTo>
                  <a:lnTo>
                    <a:pt x="903301" y="0"/>
                  </a:lnTo>
                  <a:cubicBezTo>
                    <a:pt x="960356" y="0"/>
                    <a:pt x="1006608" y="46252"/>
                    <a:pt x="1006608" y="103308"/>
                  </a:cubicBezTo>
                  <a:lnTo>
                    <a:pt x="1006608" y="919122"/>
                  </a:lnTo>
                  <a:cubicBezTo>
                    <a:pt x="1006608" y="976177"/>
                    <a:pt x="960356" y="1022429"/>
                    <a:pt x="903301" y="1022429"/>
                  </a:cubicBezTo>
                  <a:lnTo>
                    <a:pt x="103308" y="1022429"/>
                  </a:lnTo>
                  <a:cubicBezTo>
                    <a:pt x="46252" y="1022429"/>
                    <a:pt x="0" y="976177"/>
                    <a:pt x="0" y="919122"/>
                  </a:cubicBezTo>
                  <a:lnTo>
                    <a:pt x="0" y="103308"/>
                  </a:lnTo>
                  <a:cubicBezTo>
                    <a:pt x="0" y="46252"/>
                    <a:pt x="46252" y="0"/>
                    <a:pt x="10330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06608" cy="1060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79574" y="4856672"/>
            <a:ext cx="3987160" cy="3882036"/>
            <a:chOff x="0" y="0"/>
            <a:chExt cx="1050116" cy="10224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0116" cy="1022429"/>
            </a:xfrm>
            <a:custGeom>
              <a:avLst/>
              <a:gdLst/>
              <a:ahLst/>
              <a:cxnLst/>
              <a:rect r="r" b="b" t="t" l="l"/>
              <a:pathLst>
                <a:path h="1022429" w="1050116">
                  <a:moveTo>
                    <a:pt x="99027" y="0"/>
                  </a:moveTo>
                  <a:lnTo>
                    <a:pt x="951089" y="0"/>
                  </a:lnTo>
                  <a:cubicBezTo>
                    <a:pt x="1005780" y="0"/>
                    <a:pt x="1050116" y="44336"/>
                    <a:pt x="1050116" y="99027"/>
                  </a:cubicBezTo>
                  <a:lnTo>
                    <a:pt x="1050116" y="923402"/>
                  </a:lnTo>
                  <a:cubicBezTo>
                    <a:pt x="1050116" y="978093"/>
                    <a:pt x="1005780" y="1022429"/>
                    <a:pt x="951089" y="1022429"/>
                  </a:cubicBezTo>
                  <a:lnTo>
                    <a:pt x="99027" y="1022429"/>
                  </a:lnTo>
                  <a:cubicBezTo>
                    <a:pt x="72764" y="1022429"/>
                    <a:pt x="47576" y="1011996"/>
                    <a:pt x="29004" y="993425"/>
                  </a:cubicBezTo>
                  <a:cubicBezTo>
                    <a:pt x="10433" y="974854"/>
                    <a:pt x="0" y="949666"/>
                    <a:pt x="0" y="923402"/>
                  </a:cubicBezTo>
                  <a:lnTo>
                    <a:pt x="0" y="99027"/>
                  </a:lnTo>
                  <a:cubicBezTo>
                    <a:pt x="0" y="44336"/>
                    <a:pt x="44336" y="0"/>
                    <a:pt x="99027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50116" cy="1060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00388" y="4758242"/>
            <a:ext cx="3987160" cy="3882036"/>
            <a:chOff x="0" y="0"/>
            <a:chExt cx="1050116" cy="10224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0116" cy="1022429"/>
            </a:xfrm>
            <a:custGeom>
              <a:avLst/>
              <a:gdLst/>
              <a:ahLst/>
              <a:cxnLst/>
              <a:rect r="r" b="b" t="t" l="l"/>
              <a:pathLst>
                <a:path h="1022429" w="1050116">
                  <a:moveTo>
                    <a:pt x="99027" y="0"/>
                  </a:moveTo>
                  <a:lnTo>
                    <a:pt x="951089" y="0"/>
                  </a:lnTo>
                  <a:cubicBezTo>
                    <a:pt x="1005780" y="0"/>
                    <a:pt x="1050116" y="44336"/>
                    <a:pt x="1050116" y="99027"/>
                  </a:cubicBezTo>
                  <a:lnTo>
                    <a:pt x="1050116" y="923402"/>
                  </a:lnTo>
                  <a:cubicBezTo>
                    <a:pt x="1050116" y="978093"/>
                    <a:pt x="1005780" y="1022429"/>
                    <a:pt x="951089" y="1022429"/>
                  </a:cubicBezTo>
                  <a:lnTo>
                    <a:pt x="99027" y="1022429"/>
                  </a:lnTo>
                  <a:cubicBezTo>
                    <a:pt x="72764" y="1022429"/>
                    <a:pt x="47576" y="1011996"/>
                    <a:pt x="29004" y="993425"/>
                  </a:cubicBezTo>
                  <a:cubicBezTo>
                    <a:pt x="10433" y="974854"/>
                    <a:pt x="0" y="949666"/>
                    <a:pt x="0" y="923402"/>
                  </a:cubicBezTo>
                  <a:lnTo>
                    <a:pt x="0" y="99027"/>
                  </a:lnTo>
                  <a:cubicBezTo>
                    <a:pt x="0" y="44336"/>
                    <a:pt x="44336" y="0"/>
                    <a:pt x="99027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50116" cy="1060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1475732"/>
            <a:ext cx="18288000" cy="6927351"/>
            <a:chOff x="0" y="0"/>
            <a:chExt cx="24384000" cy="9236468"/>
          </a:xfrm>
        </p:grpSpPr>
        <p:sp>
          <p:nvSpPr>
            <p:cNvPr name="AutoShape 19" id="19"/>
            <p:cNvSpPr/>
            <p:nvPr/>
          </p:nvSpPr>
          <p:spPr>
            <a:xfrm>
              <a:off x="0" y="3700526"/>
              <a:ext cx="24384000" cy="0"/>
            </a:xfrm>
            <a:prstGeom prst="line">
              <a:avLst/>
            </a:prstGeom>
            <a:ln cap="flat" w="38100">
              <a:solidFill>
                <a:srgbClr val="28485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3939765" y="3675126"/>
              <a:ext cx="0" cy="772113"/>
            </a:xfrm>
            <a:prstGeom prst="line">
              <a:avLst/>
            </a:prstGeom>
            <a:ln cap="flat" w="38100">
              <a:solidFill>
                <a:srgbClr val="28485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1" id="21"/>
            <p:cNvGrpSpPr/>
            <p:nvPr/>
          </p:nvGrpSpPr>
          <p:grpSpPr>
            <a:xfrm rot="0">
              <a:off x="3738258" y="3473619"/>
              <a:ext cx="403014" cy="403014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CEB"/>
              </a:solidFill>
              <a:ln w="28575" cap="sq">
                <a:solidFill>
                  <a:srgbClr val="284852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AutoShape 24" id="24"/>
            <p:cNvSpPr/>
            <p:nvPr/>
          </p:nvSpPr>
          <p:spPr>
            <a:xfrm>
              <a:off x="9607988" y="3675126"/>
              <a:ext cx="0" cy="772113"/>
            </a:xfrm>
            <a:prstGeom prst="line">
              <a:avLst/>
            </a:prstGeom>
            <a:ln cap="flat" w="38100">
              <a:solidFill>
                <a:srgbClr val="28485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5" id="25"/>
            <p:cNvGrpSpPr/>
            <p:nvPr/>
          </p:nvGrpSpPr>
          <p:grpSpPr>
            <a:xfrm rot="0">
              <a:off x="9387431" y="3473619"/>
              <a:ext cx="403014" cy="403014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CEB"/>
              </a:solidFill>
              <a:ln w="28575" cap="sq">
                <a:solidFill>
                  <a:srgbClr val="284852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AutoShape 28" id="28"/>
            <p:cNvSpPr/>
            <p:nvPr/>
          </p:nvSpPr>
          <p:spPr>
            <a:xfrm>
              <a:off x="20905908" y="3700526"/>
              <a:ext cx="0" cy="772113"/>
            </a:xfrm>
            <a:prstGeom prst="line">
              <a:avLst/>
            </a:prstGeom>
            <a:ln cap="flat" w="38100">
              <a:solidFill>
                <a:srgbClr val="28485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9" id="29"/>
            <p:cNvGrpSpPr/>
            <p:nvPr/>
          </p:nvGrpSpPr>
          <p:grpSpPr>
            <a:xfrm rot="0">
              <a:off x="20683658" y="3473619"/>
              <a:ext cx="403014" cy="403014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CEB"/>
              </a:solidFill>
              <a:ln w="28575" cap="sq">
                <a:solidFill>
                  <a:srgbClr val="284852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AutoShape 32" id="32"/>
            <p:cNvSpPr/>
            <p:nvPr/>
          </p:nvSpPr>
          <p:spPr>
            <a:xfrm>
              <a:off x="15257794" y="3675126"/>
              <a:ext cx="0" cy="772113"/>
            </a:xfrm>
            <a:prstGeom prst="line">
              <a:avLst/>
            </a:prstGeom>
            <a:ln cap="flat" w="38100">
              <a:solidFill>
                <a:srgbClr val="28485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3" id="33"/>
            <p:cNvGrpSpPr/>
            <p:nvPr/>
          </p:nvGrpSpPr>
          <p:grpSpPr>
            <a:xfrm rot="0">
              <a:off x="15035544" y="3499019"/>
              <a:ext cx="403014" cy="403014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CEB"/>
              </a:solidFill>
              <a:ln w="28575" cap="sq">
                <a:solidFill>
                  <a:srgbClr val="284852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1317868" y="6123819"/>
              <a:ext cx="5243794" cy="311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5920" indent="-207960" lvl="1">
                <a:lnSpc>
                  <a:spcPts val="2697"/>
                </a:lnSpc>
                <a:buFont typeface="Arial"/>
                <a:buChar char="•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CatBoost with external data (Income, Schools).</a:t>
              </a:r>
            </a:p>
            <a:p>
              <a:pPr algn="l" marL="415920" indent="-207960" lvl="1">
                <a:lnSpc>
                  <a:spcPts val="2697"/>
                </a:lnSpc>
                <a:buFont typeface="Arial"/>
                <a:buChar char="•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Result: Poor performance due to missing external data.</a:t>
              </a:r>
            </a:p>
            <a:p>
              <a:pPr algn="l" marL="831841" indent="-277280" lvl="2">
                <a:lnSpc>
                  <a:spcPts val="2697"/>
                </a:lnSpc>
                <a:buFont typeface="Arial"/>
                <a:buChar char="⚬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R² ≈ 0.25</a:t>
              </a:r>
            </a:p>
            <a:p>
              <a:pPr algn="l" marL="831841" indent="-277280" lvl="2">
                <a:lnSpc>
                  <a:spcPts val="2697"/>
                </a:lnSpc>
                <a:buFont typeface="Arial"/>
                <a:buChar char="⚬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MAPE ≈ 17%</a:t>
              </a:r>
            </a:p>
            <a:p>
              <a:pPr algn="l" marL="831841" indent="-277280" lvl="2">
                <a:lnSpc>
                  <a:spcPts val="2697"/>
                </a:lnSpc>
                <a:buFont typeface="Arial"/>
                <a:buChar char="⚬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MdAPE≈ 12%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502383" y="5089912"/>
              <a:ext cx="2874764" cy="538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7"/>
                </a:lnSpc>
                <a:spcBef>
                  <a:spcPct val="0"/>
                </a:spcBef>
              </a:pPr>
              <a:r>
                <a:rPr lang="en-US" b="true" sz="2699" spc="143">
                  <a:solidFill>
                    <a:srgbClr val="000000"/>
                  </a:solidFill>
                  <a:latin typeface="Raleway 2 Bold"/>
                  <a:ea typeface="Raleway 2 Bold"/>
                  <a:cs typeface="Raleway 2 Bold"/>
                  <a:sym typeface="Raleway 2 Bold"/>
                </a:rPr>
                <a:t>v1: Baseline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7168548" y="6123819"/>
              <a:ext cx="5243794" cy="311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5920" indent="-207960" lvl="1">
                <a:lnSpc>
                  <a:spcPts val="2697"/>
                </a:lnSpc>
                <a:buFont typeface="Arial"/>
                <a:buChar char="•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Engineered "Mean Neighbor Price (20 nearest)".</a:t>
              </a:r>
            </a:p>
            <a:p>
              <a:pPr algn="l" marL="415920" indent="-207960" lvl="1">
                <a:lnSpc>
                  <a:spcPts val="2697"/>
                </a:lnSpc>
                <a:buFont typeface="Arial"/>
                <a:buChar char="•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Result: Massive accuracy boost.</a:t>
              </a:r>
            </a:p>
            <a:p>
              <a:pPr algn="l" marL="831841" indent="-277280" lvl="2">
                <a:lnSpc>
                  <a:spcPts val="2697"/>
                </a:lnSpc>
                <a:buFont typeface="Arial"/>
                <a:buChar char="⚬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R² ≈ 0.86</a:t>
              </a:r>
            </a:p>
            <a:p>
              <a:pPr algn="l" marL="831841" indent="-277280" lvl="2">
                <a:lnSpc>
                  <a:spcPts val="2697"/>
                </a:lnSpc>
                <a:buFont typeface="Arial"/>
                <a:buChar char="⚬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MAPE ≈ 11%</a:t>
              </a:r>
            </a:p>
            <a:p>
              <a:pPr algn="l" marL="831841" indent="-277280" lvl="2">
                <a:lnSpc>
                  <a:spcPts val="2697"/>
                </a:lnSpc>
                <a:buFont typeface="Arial"/>
                <a:buChar char="⚬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MdAPE≈ 8%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8170605" y="5089912"/>
              <a:ext cx="2874764" cy="538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7"/>
                </a:lnSpc>
                <a:spcBef>
                  <a:spcPct val="0"/>
                </a:spcBef>
              </a:pPr>
              <a:r>
                <a:rPr lang="en-US" b="true" sz="2699" spc="143">
                  <a:solidFill>
                    <a:srgbClr val="000000"/>
                  </a:solidFill>
                  <a:latin typeface="Raleway 2 Bold"/>
                  <a:ea typeface="Raleway 2 Bold"/>
                  <a:cs typeface="Raleway 2 Bold"/>
                  <a:sym typeface="Raleway 2 Bold"/>
                </a:rPr>
                <a:t>v2: Spatial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2838539" y="6123819"/>
              <a:ext cx="5243794" cy="1767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5920" indent="-207960" lvl="1">
                <a:lnSpc>
                  <a:spcPts val="2697"/>
                </a:lnSpc>
                <a:buFont typeface="Arial"/>
                <a:buChar char="•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Hybrid approach separating remote vs. urban areas.</a:t>
              </a:r>
            </a:p>
            <a:p>
              <a:pPr algn="l" marL="415920" indent="-207960" lvl="1">
                <a:lnSpc>
                  <a:spcPts val="2697"/>
                </a:lnSpc>
                <a:buFont typeface="Arial"/>
                <a:buChar char="•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Result: Limited gain due to sparse remote data.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3101970" y="5089912"/>
              <a:ext cx="4716931" cy="538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7"/>
                </a:lnSpc>
                <a:spcBef>
                  <a:spcPct val="0"/>
                </a:spcBef>
              </a:pPr>
              <a:r>
                <a:rPr lang="en-US" b="true" sz="2699" spc="143">
                  <a:solidFill>
                    <a:srgbClr val="000000"/>
                  </a:solidFill>
                  <a:latin typeface="Raleway 2 Bold"/>
                  <a:ea typeface="Raleway 2 Bold"/>
                  <a:cs typeface="Raleway 2 Bold"/>
                  <a:sym typeface="Raleway 2 Bold"/>
                </a:rPr>
                <a:t>v3: Remote-Aware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8980018" y="6123819"/>
              <a:ext cx="5243794" cy="311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5920" indent="-207960" lvl="1">
                <a:lnSpc>
                  <a:spcPts val="2697"/>
                </a:lnSpc>
                <a:buFont typeface="Arial"/>
                <a:buChar char="•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Refined v2 with stricter California-only filtering.</a:t>
              </a:r>
            </a:p>
            <a:p>
              <a:pPr algn="l" marL="415920" indent="-207960" lvl="1">
                <a:lnSpc>
                  <a:spcPts val="2697"/>
                </a:lnSpc>
                <a:buFont typeface="Arial"/>
                <a:buChar char="•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Result: Most robust performance.</a:t>
              </a:r>
            </a:p>
            <a:p>
              <a:pPr algn="l" marL="831841" indent="-277280" lvl="2">
                <a:lnSpc>
                  <a:spcPts val="2697"/>
                </a:lnSpc>
                <a:buFont typeface="Arial"/>
                <a:buChar char="⚬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R² ≈ 0.87</a:t>
              </a:r>
            </a:p>
            <a:p>
              <a:pPr algn="l" marL="831841" indent="-277280" lvl="2">
                <a:lnSpc>
                  <a:spcPts val="2697"/>
                </a:lnSpc>
                <a:buFont typeface="Arial"/>
                <a:buChar char="⚬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MAPE ≈ 11%</a:t>
              </a:r>
            </a:p>
            <a:p>
              <a:pPr algn="l" marL="831841" indent="-277280" lvl="2">
                <a:lnSpc>
                  <a:spcPts val="2697"/>
                </a:lnSpc>
                <a:buFont typeface="Arial"/>
                <a:buChar char="⚬"/>
              </a:pPr>
              <a:r>
                <a:rPr lang="en-US" sz="192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MdAPE≈ 7%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9487972" y="5089912"/>
              <a:ext cx="2874764" cy="538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7"/>
                </a:lnSpc>
                <a:spcBef>
                  <a:spcPct val="0"/>
                </a:spcBef>
              </a:pPr>
              <a:r>
                <a:rPr lang="en-US" b="true" sz="2699" spc="143">
                  <a:solidFill>
                    <a:srgbClr val="000000"/>
                  </a:solidFill>
                  <a:latin typeface="Raleway 2 Bold"/>
                  <a:ea typeface="Raleway 2 Bold"/>
                  <a:cs typeface="Raleway 2 Bold"/>
                  <a:sym typeface="Raleway 2 Bold"/>
                </a:rPr>
                <a:t>v2.1: Final</a:t>
              </a:r>
            </a:p>
          </p:txBody>
        </p:sp>
        <p:sp>
          <p:nvSpPr>
            <p:cNvPr name="AutoShape 44" id="44"/>
            <p:cNvSpPr/>
            <p:nvPr/>
          </p:nvSpPr>
          <p:spPr>
            <a:xfrm>
              <a:off x="3899176" y="2908696"/>
              <a:ext cx="17026179" cy="0"/>
            </a:xfrm>
            <a:prstGeom prst="line">
              <a:avLst/>
            </a:prstGeom>
            <a:ln cap="flat" w="50800">
              <a:solidFill>
                <a:srgbClr val="4D819B"/>
              </a:solidFill>
              <a:prstDash val="solid"/>
              <a:headEnd type="triangle" len="med" w="lg"/>
              <a:tailEnd type="triangle" len="med" w="lg"/>
            </a:ln>
          </p:spPr>
        </p:sp>
        <p:grpSp>
          <p:nvGrpSpPr>
            <p:cNvPr name="Group 45" id="45"/>
            <p:cNvGrpSpPr/>
            <p:nvPr/>
          </p:nvGrpSpPr>
          <p:grpSpPr>
            <a:xfrm rot="0">
              <a:off x="14214270" y="0"/>
              <a:ext cx="4415153" cy="2332703"/>
              <a:chOff x="0" y="0"/>
              <a:chExt cx="872129" cy="46078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72129" cy="460781"/>
              </a:xfrm>
              <a:custGeom>
                <a:avLst/>
                <a:gdLst/>
                <a:ahLst/>
                <a:cxnLst/>
                <a:rect r="r" b="b" t="t" l="l"/>
                <a:pathLst>
                  <a:path h="460781" w="872129">
                    <a:moveTo>
                      <a:pt x="119237" y="0"/>
                    </a:moveTo>
                    <a:lnTo>
                      <a:pt x="752892" y="0"/>
                    </a:lnTo>
                    <a:cubicBezTo>
                      <a:pt x="818745" y="0"/>
                      <a:pt x="872129" y="53384"/>
                      <a:pt x="872129" y="119237"/>
                    </a:cubicBezTo>
                    <a:lnTo>
                      <a:pt x="872129" y="341544"/>
                    </a:lnTo>
                    <a:cubicBezTo>
                      <a:pt x="872129" y="373167"/>
                      <a:pt x="859567" y="403496"/>
                      <a:pt x="837205" y="425857"/>
                    </a:cubicBezTo>
                    <a:cubicBezTo>
                      <a:pt x="814844" y="448218"/>
                      <a:pt x="784515" y="460781"/>
                      <a:pt x="752892" y="460781"/>
                    </a:cubicBezTo>
                    <a:lnTo>
                      <a:pt x="119237" y="460781"/>
                    </a:lnTo>
                    <a:cubicBezTo>
                      <a:pt x="53384" y="460781"/>
                      <a:pt x="0" y="407397"/>
                      <a:pt x="0" y="341544"/>
                    </a:cubicBezTo>
                    <a:lnTo>
                      <a:pt x="0" y="119237"/>
                    </a:lnTo>
                    <a:cubicBezTo>
                      <a:pt x="0" y="53384"/>
                      <a:pt x="53384" y="0"/>
                      <a:pt x="119237" y="0"/>
                    </a:cubicBezTo>
                    <a:close/>
                  </a:path>
                </a:pathLst>
              </a:custGeom>
              <a:solidFill>
                <a:srgbClr val="E2EBD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872129" cy="4988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14785214" y="183602"/>
              <a:ext cx="2811784" cy="1908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20"/>
                </a:lnSpc>
              </a:pPr>
              <a:r>
                <a:rPr lang="en-US" sz="2371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Difference:</a:t>
              </a:r>
            </a:p>
            <a:p>
              <a:pPr algn="l" marL="428863" indent="-214431" lvl="1">
                <a:lnSpc>
                  <a:spcPts val="2780"/>
                </a:lnSpc>
                <a:buFont typeface="Arial"/>
                <a:buChar char="•"/>
              </a:pPr>
              <a:r>
                <a:rPr lang="en-US" sz="198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R²  ↑ 0.62</a:t>
              </a:r>
            </a:p>
            <a:p>
              <a:pPr algn="l" marL="428863" indent="-214431" lvl="1">
                <a:lnSpc>
                  <a:spcPts val="2780"/>
                </a:lnSpc>
                <a:buFont typeface="Arial"/>
                <a:buChar char="•"/>
              </a:pPr>
              <a:r>
                <a:rPr lang="en-US" sz="198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MAPE  ↓ 6%</a:t>
              </a:r>
            </a:p>
            <a:p>
              <a:pPr algn="l" marL="428863" indent="-214431" lvl="1">
                <a:lnSpc>
                  <a:spcPts val="2780"/>
                </a:lnSpc>
                <a:buFont typeface="Arial"/>
                <a:buChar char="•"/>
              </a:pPr>
              <a:r>
                <a:rPr lang="en-US" sz="198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MdAPE  ↓ 5%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9817969">
            <a:off x="-11518484" y="70047"/>
            <a:ext cx="21898069" cy="14572170"/>
          </a:xfrm>
          <a:custGeom>
            <a:avLst/>
            <a:gdLst/>
            <a:ahLst/>
            <a:cxnLst/>
            <a:rect r="r" b="b" t="t" l="l"/>
            <a:pathLst>
              <a:path h="14572170" w="21898069">
                <a:moveTo>
                  <a:pt x="21898070" y="0"/>
                </a:moveTo>
                <a:lnTo>
                  <a:pt x="0" y="0"/>
                </a:lnTo>
                <a:lnTo>
                  <a:pt x="0" y="14572169"/>
                </a:lnTo>
                <a:lnTo>
                  <a:pt x="21898070" y="14572169"/>
                </a:lnTo>
                <a:lnTo>
                  <a:pt x="218980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300869" y="1028700"/>
          <a:ext cx="7958431" cy="8689975"/>
        </p:xfrm>
        <a:graphic>
          <a:graphicData uri="http://schemas.openxmlformats.org/drawingml/2006/table">
            <a:tbl>
              <a:tblPr/>
              <a:tblGrid>
                <a:gridCol w="2222386"/>
                <a:gridCol w="5736045"/>
              </a:tblGrid>
              <a:tr h="32229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Residual Patterns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BA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Residuals are mostly centered around zero, indicating no strong systematic bias.</a:t>
                      </a:r>
                      <a:endParaRPr lang="en-US" sz="1100"/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High-priced pr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operties exhibit a funnel-shaped pattern, where prediction variance increases with price.</a:t>
                      </a:r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A small number of extreme outliers are observed (approximately ±2M to ±6M), suggesting difficulty capturing rare or highly unique homes.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34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Learning Curves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(RMSE)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BA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Training and validation RMSE decrease together, showing no signs of overfitting.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34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Learning Curves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(R² )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BA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Validation R² increases steadily and remains close to the training curve, indicating good generalization and stable learning behavior.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844907">
            <a:off x="-3719978" y="6128139"/>
            <a:ext cx="10643036" cy="7082457"/>
          </a:xfrm>
          <a:custGeom>
            <a:avLst/>
            <a:gdLst/>
            <a:ahLst/>
            <a:cxnLst/>
            <a:rect r="r" b="b" t="t" l="l"/>
            <a:pathLst>
              <a:path h="7082457" w="10643036">
                <a:moveTo>
                  <a:pt x="0" y="0"/>
                </a:moveTo>
                <a:lnTo>
                  <a:pt x="10643036" y="0"/>
                </a:lnTo>
                <a:lnTo>
                  <a:pt x="10643036" y="7082457"/>
                </a:lnTo>
                <a:lnTo>
                  <a:pt x="0" y="70824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146096">
            <a:off x="2221148" y="6873404"/>
            <a:ext cx="4726431" cy="4769793"/>
          </a:xfrm>
          <a:custGeom>
            <a:avLst/>
            <a:gdLst/>
            <a:ahLst/>
            <a:cxnLst/>
            <a:rect r="r" b="b" t="t" l="l"/>
            <a:pathLst>
              <a:path h="4769793" w="4726431">
                <a:moveTo>
                  <a:pt x="0" y="0"/>
                </a:moveTo>
                <a:lnTo>
                  <a:pt x="4726431" y="0"/>
                </a:lnTo>
                <a:lnTo>
                  <a:pt x="4726431" y="4769792"/>
                </a:lnTo>
                <a:lnTo>
                  <a:pt x="0" y="47697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409632"/>
            <a:ext cx="4351539" cy="204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4159"/>
              </a:lnSpc>
              <a:buFont typeface="Arial"/>
              <a:buChar char="•"/>
            </a:pPr>
            <a:r>
              <a:rPr lang="en-US" sz="3199">
                <a:solidFill>
                  <a:srgbClr val="2A4348"/>
                </a:solidFill>
                <a:latin typeface="Raleway 1"/>
                <a:ea typeface="Raleway 1"/>
                <a:cs typeface="Raleway 1"/>
                <a:sym typeface="Raleway 1"/>
              </a:rPr>
              <a:t>R² = 0.868</a:t>
            </a:r>
          </a:p>
          <a:p>
            <a:pPr algn="l" marL="690876" indent="-345438" lvl="1">
              <a:lnSpc>
                <a:spcPts val="4159"/>
              </a:lnSpc>
              <a:buFont typeface="Arial"/>
              <a:buChar char="•"/>
            </a:pPr>
            <a:r>
              <a:rPr lang="en-US" sz="3199">
                <a:solidFill>
                  <a:srgbClr val="2A4348"/>
                </a:solidFill>
                <a:latin typeface="Raleway 1"/>
                <a:ea typeface="Raleway 1"/>
                <a:cs typeface="Raleway 1"/>
                <a:sym typeface="Raleway 1"/>
              </a:rPr>
              <a:t>MAPE = 11.29%</a:t>
            </a:r>
          </a:p>
          <a:p>
            <a:pPr algn="l" marL="690876" indent="-345438" lvl="1">
              <a:lnSpc>
                <a:spcPts val="4159"/>
              </a:lnSpc>
              <a:buFont typeface="Arial"/>
              <a:buChar char="•"/>
            </a:pPr>
            <a:r>
              <a:rPr lang="en-US" sz="3199">
                <a:solidFill>
                  <a:srgbClr val="2A4348"/>
                </a:solidFill>
                <a:latin typeface="Raleway 1"/>
                <a:ea typeface="Raleway 1"/>
                <a:cs typeface="Raleway 1"/>
                <a:sym typeface="Raleway 1"/>
              </a:rPr>
              <a:t>MdAPE = 7.71%</a:t>
            </a:r>
          </a:p>
          <a:p>
            <a:pPr algn="l">
              <a:lnSpc>
                <a:spcPts val="376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17007" y="3447732"/>
            <a:ext cx="7134712" cy="5686427"/>
          </a:xfrm>
          <a:custGeom>
            <a:avLst/>
            <a:gdLst/>
            <a:ahLst/>
            <a:cxnLst/>
            <a:rect r="r" b="b" t="t" l="l"/>
            <a:pathLst>
              <a:path h="5686427" w="7134712">
                <a:moveTo>
                  <a:pt x="0" y="0"/>
                </a:moveTo>
                <a:lnTo>
                  <a:pt x="7134713" y="0"/>
                </a:lnTo>
                <a:lnTo>
                  <a:pt x="7134713" y="5686427"/>
                </a:lnTo>
                <a:lnTo>
                  <a:pt x="0" y="56864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3447732"/>
            <a:ext cx="7123020" cy="5661887"/>
          </a:xfrm>
          <a:custGeom>
            <a:avLst/>
            <a:gdLst/>
            <a:ahLst/>
            <a:cxnLst/>
            <a:rect r="r" b="b" t="t" l="l"/>
            <a:pathLst>
              <a:path h="5661887" w="7123020">
                <a:moveTo>
                  <a:pt x="0" y="0"/>
                </a:moveTo>
                <a:lnTo>
                  <a:pt x="7123020" y="0"/>
                </a:lnTo>
                <a:lnTo>
                  <a:pt x="7123020" y="5661888"/>
                </a:lnTo>
                <a:lnTo>
                  <a:pt x="0" y="56618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3447732"/>
            <a:ext cx="7340065" cy="5661887"/>
          </a:xfrm>
          <a:custGeom>
            <a:avLst/>
            <a:gdLst/>
            <a:ahLst/>
            <a:cxnLst/>
            <a:rect r="r" b="b" t="t" l="l"/>
            <a:pathLst>
              <a:path h="5661887" w="7340065">
                <a:moveTo>
                  <a:pt x="0" y="0"/>
                </a:moveTo>
                <a:lnTo>
                  <a:pt x="7340065" y="0"/>
                </a:lnTo>
                <a:lnTo>
                  <a:pt x="7340065" y="5661888"/>
                </a:lnTo>
                <a:lnTo>
                  <a:pt x="0" y="56618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799403"/>
            <a:ext cx="6501261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Model Diagnostics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62484">
            <a:off x="12250590" y="633304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8" y="0"/>
                </a:lnTo>
                <a:lnTo>
                  <a:pt x="7536668" y="14443092"/>
                </a:lnTo>
                <a:lnTo>
                  <a:pt x="0" y="14443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11309">
            <a:off x="11414946" y="-2485820"/>
            <a:ext cx="8410362" cy="8613965"/>
          </a:xfrm>
          <a:custGeom>
            <a:avLst/>
            <a:gdLst/>
            <a:ahLst/>
            <a:cxnLst/>
            <a:rect r="r" b="b" t="t" l="l"/>
            <a:pathLst>
              <a:path h="8613965" w="8410362">
                <a:moveTo>
                  <a:pt x="0" y="0"/>
                </a:moveTo>
                <a:lnTo>
                  <a:pt x="8410362" y="0"/>
                </a:lnTo>
                <a:lnTo>
                  <a:pt x="8410362" y="8613966"/>
                </a:lnTo>
                <a:lnTo>
                  <a:pt x="0" y="8613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6833" y="1019175"/>
            <a:ext cx="1426115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Next Steps / Future Work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72692">
            <a:off x="7764929" y="6953580"/>
            <a:ext cx="5145250" cy="5230846"/>
          </a:xfrm>
          <a:custGeom>
            <a:avLst/>
            <a:gdLst/>
            <a:ahLst/>
            <a:cxnLst/>
            <a:rect r="r" b="b" t="t" l="l"/>
            <a:pathLst>
              <a:path h="5230846" w="5145250">
                <a:moveTo>
                  <a:pt x="0" y="0"/>
                </a:moveTo>
                <a:lnTo>
                  <a:pt x="5145250" y="0"/>
                </a:lnTo>
                <a:lnTo>
                  <a:pt x="5145250" y="5230846"/>
                </a:lnTo>
                <a:lnTo>
                  <a:pt x="0" y="5230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3153" y="3158740"/>
            <a:ext cx="15741997" cy="509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933" indent="-362467" lvl="1">
              <a:lnSpc>
                <a:spcPts val="5036"/>
              </a:lnSpc>
              <a:buFont typeface="Arial"/>
              <a:buChar char="•"/>
            </a:pPr>
            <a:r>
              <a:rPr lang="en-US" b="true" sz="3357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Inc</a:t>
            </a:r>
            <a:r>
              <a:rPr lang="en-US" b="true" sz="3357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rease historical data for remote areas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      → Helps reduce errors caused by small sample size and distinct distribution 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           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patterns in remote regions.</a:t>
            </a:r>
          </a:p>
          <a:p>
            <a:pPr algn="l">
              <a:lnSpc>
                <a:spcPts val="5036"/>
              </a:lnSpc>
            </a:pPr>
          </a:p>
          <a:p>
            <a:pPr algn="l" marL="724933" indent="-362467" lvl="1">
              <a:lnSpc>
                <a:spcPts val="5036"/>
              </a:lnSpc>
              <a:buFont typeface="Arial"/>
              <a:buChar char="•"/>
            </a:pPr>
            <a:r>
              <a:rPr lang="en-US" b="true" sz="3357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Build a dedicated model for high-priced properties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      → Si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nce luxury homes have unique characteristics, a specialized model 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           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may capture their pricing patterns more accura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tely.</a:t>
            </a:r>
          </a:p>
          <a:p>
            <a:pPr algn="l">
              <a:lnSpc>
                <a:spcPts val="5036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42622">
            <a:off x="4555462" y="-465752"/>
            <a:ext cx="21898069" cy="14572170"/>
          </a:xfrm>
          <a:custGeom>
            <a:avLst/>
            <a:gdLst/>
            <a:ahLst/>
            <a:cxnLst/>
            <a:rect r="r" b="b" t="t" l="l"/>
            <a:pathLst>
              <a:path h="14572170" w="21898069">
                <a:moveTo>
                  <a:pt x="21898069" y="0"/>
                </a:moveTo>
                <a:lnTo>
                  <a:pt x="0" y="0"/>
                </a:lnTo>
                <a:lnTo>
                  <a:pt x="0" y="14572170"/>
                </a:lnTo>
                <a:lnTo>
                  <a:pt x="21898069" y="14572170"/>
                </a:lnTo>
                <a:lnTo>
                  <a:pt x="218980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25624">
            <a:off x="12381322" y="-1985885"/>
            <a:ext cx="6804828" cy="6867258"/>
          </a:xfrm>
          <a:custGeom>
            <a:avLst/>
            <a:gdLst/>
            <a:ahLst/>
            <a:cxnLst/>
            <a:rect r="r" b="b" t="t" l="l"/>
            <a:pathLst>
              <a:path h="6867258" w="6804828">
                <a:moveTo>
                  <a:pt x="0" y="0"/>
                </a:moveTo>
                <a:lnTo>
                  <a:pt x="6804828" y="0"/>
                </a:lnTo>
                <a:lnTo>
                  <a:pt x="6804828" y="6867258"/>
                </a:lnTo>
                <a:lnTo>
                  <a:pt x="0" y="6867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705705"/>
          <a:ext cx="16230600" cy="6687825"/>
        </p:xfrm>
        <a:graphic>
          <a:graphicData uri="http://schemas.openxmlformats.org/drawingml/2006/table">
            <a:tbl>
              <a:tblPr/>
              <a:tblGrid>
                <a:gridCol w="2356537"/>
                <a:gridCol w="4624688"/>
                <a:gridCol w="4624688"/>
                <a:gridCol w="4624688"/>
              </a:tblGrid>
              <a:tr h="944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BF5E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879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BF5E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R²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879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BF5E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MAPE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879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FBF5E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MdAPE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8792"/>
                    </a:solidFill>
                  </a:tcPr>
                </a:tc>
              </a:tr>
              <a:tr h="14358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MLP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87.15%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12.79%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8.72%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  <a:tr h="14358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LightGBM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85.74%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12.14%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7.75%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</a:tr>
              <a:tr h="14358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XGBoost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81.11%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22.21%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14.36%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  <a:tr h="14358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CatBoost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86.82%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11.29%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7.71%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E87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804626"/>
            <a:ext cx="1364636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Models Performance Comparison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781175"/>
            <a:ext cx="13646363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(Training: 2025.01–2025.08; Testing: 2025.09)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88326">
            <a:off x="-162912" y="222186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2"/>
                </a:lnTo>
                <a:lnTo>
                  <a:pt x="0" y="14443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83987" y="4244636"/>
            <a:ext cx="11189031" cy="7303385"/>
          </a:xfrm>
          <a:custGeom>
            <a:avLst/>
            <a:gdLst/>
            <a:ahLst/>
            <a:cxnLst/>
            <a:rect r="r" b="b" t="t" l="l"/>
            <a:pathLst>
              <a:path h="7303385" w="11189031">
                <a:moveTo>
                  <a:pt x="0" y="0"/>
                </a:moveTo>
                <a:lnTo>
                  <a:pt x="11189030" y="0"/>
                </a:lnTo>
                <a:lnTo>
                  <a:pt x="11189030" y="7303385"/>
                </a:lnTo>
                <a:lnTo>
                  <a:pt x="0" y="73033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125023"/>
          <a:ext cx="16230600" cy="7143750"/>
        </p:xfrm>
        <a:graphic>
          <a:graphicData uri="http://schemas.openxmlformats.org/drawingml/2006/table">
            <a:tbl>
              <a:tblPr/>
              <a:tblGrid>
                <a:gridCol w="2958787"/>
                <a:gridCol w="6332036"/>
                <a:gridCol w="6939776"/>
              </a:tblGrid>
              <a:tr h="84885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6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599" strike="noStrike" u="non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BA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6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599" strike="noStrike" u="non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Advantages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BA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6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599" strike="noStrike" u="non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Disadvantages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BA9C"/>
                    </a:solidFill>
                  </a:tcPr>
                </a:tc>
              </a:tr>
              <a:tr h="125897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strike="noStrike" u="none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MLP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Powerful nonlinear learning</a:t>
                      </a:r>
                      <a:endParaRPr lang="en-US" sz="1100"/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highly flexible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Needs large data- easily overfits</a:t>
                      </a:r>
                      <a:endParaRPr lang="en-US" sz="1100"/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low interpretability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  <a:tr h="167863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Ligh</a:t>
                      </a:r>
                      <a:r>
                        <a:rPr lang="en-US" sz="2399" strike="noStrike" u="none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t</a:t>
                      </a:r>
                      <a:r>
                        <a:rPr lang="en-US" sz="2399" strike="noStrike" u="none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G</a:t>
                      </a:r>
                      <a:r>
                        <a:rPr lang="en-US" sz="2399" strike="noStrike" u="none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B</a:t>
                      </a:r>
                      <a:r>
                        <a:rPr lang="en-US" sz="2399" strike="noStrike" u="none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Very fast</a:t>
                      </a:r>
                      <a:endParaRPr lang="en-US" sz="1100"/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scalable</a:t>
                      </a:r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handles missing values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Sensitive to tuning</a:t>
                      </a:r>
                      <a:endParaRPr lang="en-US" sz="1100"/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weak categorical support</a:t>
                      </a:r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higher overfitting risk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</a:tr>
              <a:tr h="167863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XGBoost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Strong tabular performance</a:t>
                      </a:r>
                      <a:endParaRPr lang="en-US" sz="1100"/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good regularization</a:t>
                      </a:r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handles missing values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Heavy training &amp; tuning cost</a:t>
                      </a:r>
                      <a:endParaRPr lang="en-US" sz="1100"/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risk of overfitting with poor features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  <a:tr h="167863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strike="noStrike" u="none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CatBoost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Best for categorical data</a:t>
                      </a:r>
                      <a:endParaRPr lang="en-US" sz="1100"/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strong defaults</a:t>
                      </a:r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stable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Slower on very large data</a:t>
                      </a:r>
                      <a:endParaRPr lang="en-US" sz="1100"/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lgin"/>
                          <a:ea typeface="Balgin"/>
                          <a:cs typeface="Balgin"/>
                          <a:sym typeface="Balgin"/>
                        </a:rPr>
                        <a:t>fewer tuning options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B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8C3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732999"/>
            <a:ext cx="162306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Advantages &amp; Disadvantages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62484">
            <a:off x="12250590" y="633304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8" y="0"/>
                </a:lnTo>
                <a:lnTo>
                  <a:pt x="7536668" y="14443092"/>
                </a:lnTo>
                <a:lnTo>
                  <a:pt x="0" y="14443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11309">
            <a:off x="11414946" y="-2485820"/>
            <a:ext cx="8410362" cy="8613965"/>
          </a:xfrm>
          <a:custGeom>
            <a:avLst/>
            <a:gdLst/>
            <a:ahLst/>
            <a:cxnLst/>
            <a:rect r="r" b="b" t="t" l="l"/>
            <a:pathLst>
              <a:path h="8613965" w="8410362">
                <a:moveTo>
                  <a:pt x="0" y="0"/>
                </a:moveTo>
                <a:lnTo>
                  <a:pt x="8410362" y="0"/>
                </a:lnTo>
                <a:lnTo>
                  <a:pt x="8410362" y="8613966"/>
                </a:lnTo>
                <a:lnTo>
                  <a:pt x="0" y="8613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6833" y="713619"/>
            <a:ext cx="1426115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Common Feature Engineering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72692">
            <a:off x="7764929" y="6953580"/>
            <a:ext cx="5145250" cy="5230846"/>
          </a:xfrm>
          <a:custGeom>
            <a:avLst/>
            <a:gdLst/>
            <a:ahLst/>
            <a:cxnLst/>
            <a:rect r="r" b="b" t="t" l="l"/>
            <a:pathLst>
              <a:path h="5230846" w="5145250">
                <a:moveTo>
                  <a:pt x="0" y="0"/>
                </a:moveTo>
                <a:lnTo>
                  <a:pt x="5145250" y="0"/>
                </a:lnTo>
                <a:lnTo>
                  <a:pt x="5145250" y="5230846"/>
                </a:lnTo>
                <a:lnTo>
                  <a:pt x="0" y="5230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7767" y="2242073"/>
            <a:ext cx="16512467" cy="636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933" indent="-362467" lvl="1">
              <a:lnSpc>
                <a:spcPts val="5036"/>
              </a:lnSpc>
              <a:buFont typeface="Arial"/>
              <a:buChar char="•"/>
            </a:pPr>
            <a:r>
              <a:rPr lang="en-US" b="true" sz="3357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G</a:t>
            </a:r>
            <a:r>
              <a:rPr lang="en-US" b="true" sz="3357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eospatial / Neighborhood Features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      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KNN + coordinates to create neighborhood price/distance features 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      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→ boosts R² and lowers MAPE.</a:t>
            </a:r>
          </a:p>
          <a:p>
            <a:pPr algn="l">
              <a:lnSpc>
                <a:spcPts val="5036"/>
              </a:lnSpc>
            </a:pPr>
          </a:p>
          <a:p>
            <a:pPr algn="l" marL="724933" indent="-362467" lvl="1">
              <a:lnSpc>
                <a:spcPts val="5036"/>
              </a:lnSpc>
              <a:buFont typeface="Arial"/>
              <a:buChar char="•"/>
            </a:pPr>
            <a:r>
              <a:rPr lang="en-US" b="true" sz="3357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T</a:t>
            </a:r>
            <a:r>
              <a:rPr lang="en-US" b="true" sz="3357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arget Log Transformation</a:t>
            </a:r>
          </a:p>
          <a:p>
            <a:pPr algn="l" marL="0" indent="0" lvl="0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      App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ly log1p to ClosePrice → reduces skew and stabilizes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training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.</a:t>
            </a:r>
          </a:p>
          <a:p>
            <a:pPr algn="l" marL="0" indent="0" lvl="0">
              <a:lnSpc>
                <a:spcPts val="5036"/>
              </a:lnSpc>
            </a:pPr>
          </a:p>
          <a:p>
            <a:pPr algn="l" marL="724933" indent="-362467" lvl="1">
              <a:lnSpc>
                <a:spcPts val="5036"/>
              </a:lnSpc>
              <a:buFont typeface="Arial"/>
              <a:buChar char="•"/>
            </a:pPr>
            <a:r>
              <a:rPr lang="en-US" b="true" sz="3357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Outlier Filtering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      </a:t>
            </a: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Use price bounds or percentile/IQR rules </a:t>
            </a:r>
          </a:p>
          <a:p>
            <a:pPr algn="l">
              <a:lnSpc>
                <a:spcPts val="5036"/>
              </a:lnSpc>
            </a:pPr>
            <a:r>
              <a:rPr lang="en-US" sz="3357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       → remove extremes and improve model stability.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807800">
            <a:off x="12403671" y="780420"/>
            <a:ext cx="7536668" cy="14443092"/>
          </a:xfrm>
          <a:custGeom>
            <a:avLst/>
            <a:gdLst/>
            <a:ahLst/>
            <a:cxnLst/>
            <a:rect r="r" b="b" t="t" l="l"/>
            <a:pathLst>
              <a:path h="14443092" w="7536668">
                <a:moveTo>
                  <a:pt x="0" y="0"/>
                </a:moveTo>
                <a:lnTo>
                  <a:pt x="7536669" y="0"/>
                </a:lnTo>
                <a:lnTo>
                  <a:pt x="7536669" y="14443093"/>
                </a:lnTo>
                <a:lnTo>
                  <a:pt x="0" y="1444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6677">
            <a:off x="1393894" y="2127617"/>
            <a:ext cx="7834957" cy="15014726"/>
          </a:xfrm>
          <a:custGeom>
            <a:avLst/>
            <a:gdLst/>
            <a:ahLst/>
            <a:cxnLst/>
            <a:rect r="r" b="b" t="t" l="l"/>
            <a:pathLst>
              <a:path h="15014726" w="7834957">
                <a:moveTo>
                  <a:pt x="0" y="0"/>
                </a:moveTo>
                <a:lnTo>
                  <a:pt x="7834957" y="0"/>
                </a:lnTo>
                <a:lnTo>
                  <a:pt x="7834957" y="15014726"/>
                </a:lnTo>
                <a:lnTo>
                  <a:pt x="0" y="1501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3193502"/>
          <a:ext cx="16230600" cy="5481844"/>
        </p:xfrm>
        <a:graphic>
          <a:graphicData uri="http://schemas.openxmlformats.org/drawingml/2006/table">
            <a:tbl>
              <a:tblPr/>
              <a:tblGrid>
                <a:gridCol w="5303405"/>
                <a:gridCol w="5303405"/>
                <a:gridCol w="5623791"/>
              </a:tblGrid>
              <a:tr h="1048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Data Enhancements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Modeling Enhancements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Raleway 1 Bold"/>
                          <a:ea typeface="Raleway 1 Bold"/>
                          <a:cs typeface="Raleway 1 Bold"/>
                          <a:sym typeface="Raleway 1 Bold"/>
                        </a:rPr>
                        <a:t>Validation Improvements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A9"/>
                    </a:solidFill>
                  </a:tcPr>
                </a:tc>
              </a:tr>
              <a:tr h="4433714">
                <a:tc>
                  <a:txBody>
                    <a:bodyPr anchor="t" rtlCol="false"/>
                    <a:lstStyle/>
                    <a:p>
                      <a:pPr algn="l" marL="391280" indent="-195640" lvl="1">
                        <a:lnSpc>
                          <a:spcPts val="2718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Expand dataset (Sep–Dec 2025) for seasonality</a:t>
                      </a:r>
                      <a:endParaRPr lang="en-US" sz="1100"/>
                    </a:p>
                    <a:p>
                      <a:pPr algn="l" marL="391280" indent="-195640" lvl="1">
                        <a:lnSpc>
                          <a:spcPts val="2718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Add macroeconomic signals (rates, CPI, unemployment)</a:t>
                      </a:r>
                    </a:p>
                    <a:p>
                      <a:pPr algn="l" marL="391280" indent="-195640" lvl="1">
                        <a:lnSpc>
                          <a:spcPts val="2718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Enrich location intelligence (schools, commute distance)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91280" indent="-195640" lvl="1">
                        <a:lnSpc>
                          <a:spcPts val="2718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Experiment with ensemble stacking (LightGBM + XGBoost + LSTM).</a:t>
                      </a:r>
                      <a:endParaRPr lang="en-US" sz="1100"/>
                    </a:p>
                    <a:p>
                      <a:pPr algn="l" marL="391280" indent="-195640" lvl="1">
                        <a:lnSpc>
                          <a:spcPts val="2718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App</a:t>
                      </a: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ly deeper explainability methods (SHAP, PDPs).</a:t>
                      </a:r>
                    </a:p>
                    <a:p>
                      <a:pPr algn="l" marL="391280" indent="-195640" lvl="1">
                        <a:lnSpc>
                          <a:spcPts val="2718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Deploy the model as an interactive Streamlit/dashboard app.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91280" indent="-195640" lvl="1">
                        <a:lnSpc>
                          <a:spcPts val="2718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Implement time-based cross-validation f</a:t>
                      </a: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or realistic forecasting.</a:t>
                      </a:r>
                      <a:endParaRPr lang="en-US" sz="1100"/>
                    </a:p>
                    <a:p>
                      <a:pPr algn="l" marL="391280" indent="-195640" lvl="1">
                        <a:lnSpc>
                          <a:spcPts val="2718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Generat</a:t>
                      </a: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e regional error heatmaps.</a:t>
                      </a:r>
                    </a:p>
                    <a:p>
                      <a:pPr algn="l" marL="391280" indent="-195640" lvl="1">
                        <a:lnSpc>
                          <a:spcPts val="2718"/>
                        </a:lnSpc>
                        <a:buFont typeface="Arial"/>
                        <a:buChar char="•"/>
                      </a:pPr>
                      <a:r>
                        <a:rPr lang="en-US" sz="1812">
                          <a:solidFill>
                            <a:srgbClr val="000000"/>
                          </a:solidFill>
                          <a:latin typeface="Raleway 1"/>
                          <a:ea typeface="Raleway 1"/>
                          <a:cs typeface="Raleway 1"/>
                          <a:sym typeface="Raleway 1"/>
                        </a:rPr>
                        <a:t>Identify geographic overpricing/underpricing clusters.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AC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0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009650"/>
            <a:ext cx="1022030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Future Steps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76313"/>
            <a:ext cx="1035207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9"/>
              </a:lnSpc>
            </a:pPr>
            <a:r>
              <a:rPr lang="en-US" sz="6099" b="true">
                <a:solidFill>
                  <a:srgbClr val="000000"/>
                </a:solidFill>
                <a:latin typeface="Raleway 1 Bold"/>
                <a:ea typeface="Raleway 1 Bold"/>
                <a:cs typeface="Raleway 1 Bold"/>
                <a:sym typeface="Raleway 1 Bold"/>
              </a:rPr>
              <a:t>What We’ve Learned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72692">
            <a:off x="199157" y="7795248"/>
            <a:ext cx="5145250" cy="5230846"/>
          </a:xfrm>
          <a:custGeom>
            <a:avLst/>
            <a:gdLst/>
            <a:ahLst/>
            <a:cxnLst/>
            <a:rect r="r" b="b" t="t" l="l"/>
            <a:pathLst>
              <a:path h="5230846" w="5145250">
                <a:moveTo>
                  <a:pt x="0" y="0"/>
                </a:moveTo>
                <a:lnTo>
                  <a:pt x="5145249" y="0"/>
                </a:lnTo>
                <a:lnTo>
                  <a:pt x="5145249" y="5230845"/>
                </a:lnTo>
                <a:lnTo>
                  <a:pt x="0" y="5230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335187"/>
            <a:ext cx="5300094" cy="4114800"/>
          </a:xfrm>
          <a:custGeom>
            <a:avLst/>
            <a:gdLst/>
            <a:ahLst/>
            <a:cxnLst/>
            <a:rect r="r" b="b" t="t" l="l"/>
            <a:pathLst>
              <a:path h="4114800" w="5300094">
                <a:moveTo>
                  <a:pt x="0" y="0"/>
                </a:moveTo>
                <a:lnTo>
                  <a:pt x="5300094" y="0"/>
                </a:lnTo>
                <a:lnTo>
                  <a:pt x="53000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24846" y="3018957"/>
            <a:ext cx="8285748" cy="475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799" indent="-308899" lvl="1">
              <a:lnSpc>
                <a:spcPts val="4292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Recognized that data cleaning drives model quality.</a:t>
            </a:r>
          </a:p>
          <a:p>
            <a:pPr algn="l" marL="617799" indent="-308899" lvl="1">
              <a:lnSpc>
                <a:spcPts val="4292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Observed that feature engineering often outperformed algorithm changes.</a:t>
            </a:r>
          </a:p>
          <a:p>
            <a:pPr algn="l" marL="617799" indent="-308899" lvl="1">
              <a:lnSpc>
                <a:spcPts val="4292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Improved model accuracy using neighborhood + ratio features.</a:t>
            </a:r>
          </a:p>
          <a:p>
            <a:pPr algn="l" marL="617799" indent="-308899" lvl="1">
              <a:lnSpc>
                <a:spcPts val="4292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Raleway 1"/>
                <a:ea typeface="Raleway 1"/>
                <a:cs typeface="Raleway 1"/>
                <a:sym typeface="Raleway 1"/>
              </a:rPr>
              <a:t>Strengthened teamwork through structured collaboration.</a:t>
            </a:r>
          </a:p>
          <a:p>
            <a:pPr algn="l">
              <a:lnSpc>
                <a:spcPts val="383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801916" y="8113020"/>
            <a:ext cx="4628966" cy="2297650"/>
          </a:xfrm>
          <a:custGeom>
            <a:avLst/>
            <a:gdLst/>
            <a:ahLst/>
            <a:cxnLst/>
            <a:rect r="r" b="b" t="t" l="l"/>
            <a:pathLst>
              <a:path h="2297650" w="4628966">
                <a:moveTo>
                  <a:pt x="0" y="0"/>
                </a:moveTo>
                <a:lnTo>
                  <a:pt x="4628966" y="0"/>
                </a:lnTo>
                <a:lnTo>
                  <a:pt x="4628966" y="2297650"/>
                </a:lnTo>
                <a:lnTo>
                  <a:pt x="0" y="22976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16399" y="-1299398"/>
            <a:ext cx="2644714" cy="3463316"/>
          </a:xfrm>
          <a:custGeom>
            <a:avLst/>
            <a:gdLst/>
            <a:ahLst/>
            <a:cxnLst/>
            <a:rect r="r" b="b" t="t" l="l"/>
            <a:pathLst>
              <a:path h="3463316" w="2644714">
                <a:moveTo>
                  <a:pt x="0" y="0"/>
                </a:moveTo>
                <a:lnTo>
                  <a:pt x="2644714" y="0"/>
                </a:lnTo>
                <a:lnTo>
                  <a:pt x="2644714" y="3463317"/>
                </a:lnTo>
                <a:lnTo>
                  <a:pt x="0" y="34633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5945" y="3650148"/>
            <a:ext cx="6741110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39"/>
              </a:lnSpc>
            </a:pPr>
            <a:r>
              <a:rPr lang="en-US" sz="8699">
                <a:solidFill>
                  <a:srgbClr val="000000"/>
                </a:solidFill>
                <a:latin typeface="Balgin"/>
                <a:ea typeface="Balgin"/>
                <a:cs typeface="Balgin"/>
                <a:sym typeface="Balgin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932791" y="1097213"/>
            <a:ext cx="1569074" cy="1604072"/>
          </a:xfrm>
          <a:custGeom>
            <a:avLst/>
            <a:gdLst/>
            <a:ahLst/>
            <a:cxnLst/>
            <a:rect r="r" b="b" t="t" l="l"/>
            <a:pathLst>
              <a:path h="1604072" w="1569074">
                <a:moveTo>
                  <a:pt x="0" y="0"/>
                </a:moveTo>
                <a:lnTo>
                  <a:pt x="1569074" y="0"/>
                </a:lnTo>
                <a:lnTo>
                  <a:pt x="1569074" y="1604072"/>
                </a:lnTo>
                <a:lnTo>
                  <a:pt x="0" y="1604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01865" y="1097213"/>
            <a:ext cx="1493245" cy="1604072"/>
          </a:xfrm>
          <a:custGeom>
            <a:avLst/>
            <a:gdLst/>
            <a:ahLst/>
            <a:cxnLst/>
            <a:rect r="r" b="b" t="t" l="l"/>
            <a:pathLst>
              <a:path h="1604072" w="1493245">
                <a:moveTo>
                  <a:pt x="0" y="0"/>
                </a:moveTo>
                <a:lnTo>
                  <a:pt x="1493245" y="0"/>
                </a:lnTo>
                <a:lnTo>
                  <a:pt x="1493245" y="1604072"/>
                </a:lnTo>
                <a:lnTo>
                  <a:pt x="0" y="1604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91495" y="1014081"/>
            <a:ext cx="1604072" cy="1583657"/>
          </a:xfrm>
          <a:custGeom>
            <a:avLst/>
            <a:gdLst/>
            <a:ahLst/>
            <a:cxnLst/>
            <a:rect r="r" b="b" t="t" l="l"/>
            <a:pathLst>
              <a:path h="1583657" w="1604072">
                <a:moveTo>
                  <a:pt x="0" y="0"/>
                </a:moveTo>
                <a:lnTo>
                  <a:pt x="1604072" y="0"/>
                </a:lnTo>
                <a:lnTo>
                  <a:pt x="1604072" y="1583657"/>
                </a:lnTo>
                <a:lnTo>
                  <a:pt x="0" y="15836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88717" y="966376"/>
            <a:ext cx="1604072" cy="1557408"/>
          </a:xfrm>
          <a:custGeom>
            <a:avLst/>
            <a:gdLst/>
            <a:ahLst/>
            <a:cxnLst/>
            <a:rect r="r" b="b" t="t" l="l"/>
            <a:pathLst>
              <a:path h="1557408" w="1604072">
                <a:moveTo>
                  <a:pt x="0" y="0"/>
                </a:moveTo>
                <a:lnTo>
                  <a:pt x="1604072" y="0"/>
                </a:lnTo>
                <a:lnTo>
                  <a:pt x="1604072" y="1557408"/>
                </a:lnTo>
                <a:lnTo>
                  <a:pt x="0" y="1557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86873" y="1173965"/>
            <a:ext cx="1805556" cy="1263889"/>
          </a:xfrm>
          <a:custGeom>
            <a:avLst/>
            <a:gdLst/>
            <a:ahLst/>
            <a:cxnLst/>
            <a:rect r="r" b="b" t="t" l="l"/>
            <a:pathLst>
              <a:path h="1263889" w="1805556">
                <a:moveTo>
                  <a:pt x="0" y="0"/>
                </a:moveTo>
                <a:lnTo>
                  <a:pt x="1805556" y="0"/>
                </a:lnTo>
                <a:lnTo>
                  <a:pt x="1805556" y="1263889"/>
                </a:lnTo>
                <a:lnTo>
                  <a:pt x="0" y="12638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45221" y="4828043"/>
            <a:ext cx="1896620" cy="1865584"/>
          </a:xfrm>
          <a:custGeom>
            <a:avLst/>
            <a:gdLst/>
            <a:ahLst/>
            <a:cxnLst/>
            <a:rect r="r" b="b" t="t" l="l"/>
            <a:pathLst>
              <a:path h="1865584" w="1896620">
                <a:moveTo>
                  <a:pt x="0" y="0"/>
                </a:moveTo>
                <a:lnTo>
                  <a:pt x="1896620" y="0"/>
                </a:lnTo>
                <a:lnTo>
                  <a:pt x="1896620" y="1865585"/>
                </a:lnTo>
                <a:lnTo>
                  <a:pt x="0" y="18655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97561" y="4952321"/>
            <a:ext cx="1602328" cy="1617028"/>
          </a:xfrm>
          <a:custGeom>
            <a:avLst/>
            <a:gdLst/>
            <a:ahLst/>
            <a:cxnLst/>
            <a:rect r="r" b="b" t="t" l="l"/>
            <a:pathLst>
              <a:path h="1617028" w="1602328">
                <a:moveTo>
                  <a:pt x="0" y="0"/>
                </a:moveTo>
                <a:lnTo>
                  <a:pt x="1602328" y="0"/>
                </a:lnTo>
                <a:lnTo>
                  <a:pt x="1602328" y="1617029"/>
                </a:lnTo>
                <a:lnTo>
                  <a:pt x="0" y="16170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86898" y="4915938"/>
            <a:ext cx="1384764" cy="1617028"/>
          </a:xfrm>
          <a:custGeom>
            <a:avLst/>
            <a:gdLst/>
            <a:ahLst/>
            <a:cxnLst/>
            <a:rect r="r" b="b" t="t" l="l"/>
            <a:pathLst>
              <a:path h="1617028" w="1384764">
                <a:moveTo>
                  <a:pt x="0" y="0"/>
                </a:moveTo>
                <a:lnTo>
                  <a:pt x="1384764" y="0"/>
                </a:lnTo>
                <a:lnTo>
                  <a:pt x="1384764" y="1617029"/>
                </a:lnTo>
                <a:lnTo>
                  <a:pt x="0" y="161702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73868" y="4915938"/>
            <a:ext cx="1617028" cy="1590568"/>
          </a:xfrm>
          <a:custGeom>
            <a:avLst/>
            <a:gdLst/>
            <a:ahLst/>
            <a:cxnLst/>
            <a:rect r="r" b="b" t="t" l="l"/>
            <a:pathLst>
              <a:path h="1590568" w="1617028">
                <a:moveTo>
                  <a:pt x="0" y="0"/>
                </a:moveTo>
                <a:lnTo>
                  <a:pt x="1617028" y="0"/>
                </a:lnTo>
                <a:lnTo>
                  <a:pt x="1617028" y="1590568"/>
                </a:lnTo>
                <a:lnTo>
                  <a:pt x="0" y="1590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141317" y="4828043"/>
            <a:ext cx="1590568" cy="1617028"/>
          </a:xfrm>
          <a:custGeom>
            <a:avLst/>
            <a:gdLst/>
            <a:ahLst/>
            <a:cxnLst/>
            <a:rect r="r" b="b" t="t" l="l"/>
            <a:pathLst>
              <a:path h="1617028" w="1590568">
                <a:moveTo>
                  <a:pt x="0" y="0"/>
                </a:moveTo>
                <a:lnTo>
                  <a:pt x="1590568" y="0"/>
                </a:lnTo>
                <a:lnTo>
                  <a:pt x="1590568" y="1617029"/>
                </a:lnTo>
                <a:lnTo>
                  <a:pt x="0" y="161702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397164" y="2839221"/>
            <a:ext cx="1862136" cy="1896620"/>
          </a:xfrm>
          <a:custGeom>
            <a:avLst/>
            <a:gdLst/>
            <a:ahLst/>
            <a:cxnLst/>
            <a:rect r="r" b="b" t="t" l="l"/>
            <a:pathLst>
              <a:path h="1896620" w="1862136">
                <a:moveTo>
                  <a:pt x="0" y="0"/>
                </a:moveTo>
                <a:lnTo>
                  <a:pt x="1862136" y="0"/>
                </a:lnTo>
                <a:lnTo>
                  <a:pt x="1862136" y="1896620"/>
                </a:lnTo>
                <a:lnTo>
                  <a:pt x="0" y="1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429172" y="2977157"/>
            <a:ext cx="1896620" cy="1620748"/>
          </a:xfrm>
          <a:custGeom>
            <a:avLst/>
            <a:gdLst/>
            <a:ahLst/>
            <a:cxnLst/>
            <a:rect r="r" b="b" t="t" l="l"/>
            <a:pathLst>
              <a:path h="1620748" w="1896620">
                <a:moveTo>
                  <a:pt x="0" y="0"/>
                </a:moveTo>
                <a:lnTo>
                  <a:pt x="1896620" y="0"/>
                </a:lnTo>
                <a:lnTo>
                  <a:pt x="1896620" y="1620748"/>
                </a:lnTo>
                <a:lnTo>
                  <a:pt x="0" y="162074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681766" y="2711363"/>
            <a:ext cx="1672474" cy="1896620"/>
          </a:xfrm>
          <a:custGeom>
            <a:avLst/>
            <a:gdLst/>
            <a:ahLst/>
            <a:cxnLst/>
            <a:rect r="r" b="b" t="t" l="l"/>
            <a:pathLst>
              <a:path h="1896620" w="1672474">
                <a:moveTo>
                  <a:pt x="0" y="0"/>
                </a:moveTo>
                <a:lnTo>
                  <a:pt x="1672474" y="0"/>
                </a:lnTo>
                <a:lnTo>
                  <a:pt x="1672474" y="1896620"/>
                </a:lnTo>
                <a:lnTo>
                  <a:pt x="0" y="1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951343" y="2701285"/>
            <a:ext cx="1841446" cy="1896620"/>
          </a:xfrm>
          <a:custGeom>
            <a:avLst/>
            <a:gdLst/>
            <a:ahLst/>
            <a:cxnLst/>
            <a:rect r="r" b="b" t="t" l="l"/>
            <a:pathLst>
              <a:path h="1896620" w="1841446">
                <a:moveTo>
                  <a:pt x="0" y="0"/>
                </a:moveTo>
                <a:lnTo>
                  <a:pt x="1841446" y="0"/>
                </a:lnTo>
                <a:lnTo>
                  <a:pt x="1841446" y="1896620"/>
                </a:lnTo>
                <a:lnTo>
                  <a:pt x="0" y="1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36630" y="2773434"/>
            <a:ext cx="1896620" cy="1834549"/>
          </a:xfrm>
          <a:custGeom>
            <a:avLst/>
            <a:gdLst/>
            <a:ahLst/>
            <a:cxnLst/>
            <a:rect r="r" b="b" t="t" l="l"/>
            <a:pathLst>
              <a:path h="1834549" w="1896620">
                <a:moveTo>
                  <a:pt x="0" y="0"/>
                </a:moveTo>
                <a:lnTo>
                  <a:pt x="1896620" y="0"/>
                </a:lnTo>
                <a:lnTo>
                  <a:pt x="1896620" y="1834549"/>
                </a:lnTo>
                <a:lnTo>
                  <a:pt x="0" y="183454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207466" y="6839600"/>
            <a:ext cx="1524419" cy="2402379"/>
          </a:xfrm>
          <a:custGeom>
            <a:avLst/>
            <a:gdLst/>
            <a:ahLst/>
            <a:cxnLst/>
            <a:rect r="r" b="b" t="t" l="l"/>
            <a:pathLst>
              <a:path h="2402379" w="1524419">
                <a:moveTo>
                  <a:pt x="0" y="0"/>
                </a:moveTo>
                <a:lnTo>
                  <a:pt x="1524419" y="0"/>
                </a:lnTo>
                <a:lnTo>
                  <a:pt x="1524419" y="2402379"/>
                </a:lnTo>
                <a:lnTo>
                  <a:pt x="0" y="2402379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649082" y="6839600"/>
            <a:ext cx="1396224" cy="2348389"/>
          </a:xfrm>
          <a:custGeom>
            <a:avLst/>
            <a:gdLst/>
            <a:ahLst/>
            <a:cxnLst/>
            <a:rect r="r" b="b" t="t" l="l"/>
            <a:pathLst>
              <a:path h="2348389" w="1396224">
                <a:moveTo>
                  <a:pt x="0" y="0"/>
                </a:moveTo>
                <a:lnTo>
                  <a:pt x="1396224" y="0"/>
                </a:lnTo>
                <a:lnTo>
                  <a:pt x="1396224" y="2348388"/>
                </a:lnTo>
                <a:lnTo>
                  <a:pt x="0" y="2348388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44198" y="6896316"/>
            <a:ext cx="1695724" cy="2274752"/>
          </a:xfrm>
          <a:custGeom>
            <a:avLst/>
            <a:gdLst/>
            <a:ahLst/>
            <a:cxnLst/>
            <a:rect r="r" b="b" t="t" l="l"/>
            <a:pathLst>
              <a:path h="2274752" w="1695724">
                <a:moveTo>
                  <a:pt x="0" y="0"/>
                </a:moveTo>
                <a:lnTo>
                  <a:pt x="1695724" y="0"/>
                </a:lnTo>
                <a:lnTo>
                  <a:pt x="1695724" y="2274752"/>
                </a:lnTo>
                <a:lnTo>
                  <a:pt x="0" y="2274752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838211" y="6935967"/>
            <a:ext cx="2067957" cy="2274752"/>
          </a:xfrm>
          <a:custGeom>
            <a:avLst/>
            <a:gdLst/>
            <a:ahLst/>
            <a:cxnLst/>
            <a:rect r="r" b="b" t="t" l="l"/>
            <a:pathLst>
              <a:path h="2274752" w="2067957">
                <a:moveTo>
                  <a:pt x="0" y="0"/>
                </a:moveTo>
                <a:lnTo>
                  <a:pt x="2067957" y="0"/>
                </a:lnTo>
                <a:lnTo>
                  <a:pt x="2067957" y="2274752"/>
                </a:lnTo>
                <a:lnTo>
                  <a:pt x="0" y="2274752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047269" y="6983548"/>
            <a:ext cx="1948015" cy="2274752"/>
          </a:xfrm>
          <a:custGeom>
            <a:avLst/>
            <a:gdLst/>
            <a:ahLst/>
            <a:cxnLst/>
            <a:rect r="r" b="b" t="t" l="l"/>
            <a:pathLst>
              <a:path h="2274752" w="1948015">
                <a:moveTo>
                  <a:pt x="0" y="0"/>
                </a:moveTo>
                <a:lnTo>
                  <a:pt x="1948015" y="0"/>
                </a:lnTo>
                <a:lnTo>
                  <a:pt x="1948015" y="2274752"/>
                </a:lnTo>
                <a:lnTo>
                  <a:pt x="0" y="2274752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DAG45Mk3FrY</dc:identifier>
  <dcterms:modified xsi:type="dcterms:W3CDTF">2011-08-01T06:04:30Z</dcterms:modified>
  <cp:revision>1</cp:revision>
  <dc:title>IDX Exchange- DS 35</dc:title>
</cp:coreProperties>
</file>